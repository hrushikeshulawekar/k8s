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1.png"/><Relationship Id="rId7" Type="http://schemas.openxmlformats.org/officeDocument/2006/relationships/image" Target="../media/image-6-2.png"/><Relationship Id="rId8" Type="http://schemas.openxmlformats.org/officeDocument/2006/relationships/image" Target="../media/image-6-3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0EA5E9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2DD4BF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325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 ·  CONTAINERIZATION  ·  ORCHESTRATION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73736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</a:t>
            </a:r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Node.js Application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on </a:t>
            </a:r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352044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build, containerization, and zero-downtime deployment of a React/Node.js application using Jenkins, Docker, and Minikube — with production-grade auto-rollback on failure.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4892040"/>
            <a:ext cx="566928" cy="566928"/>
          </a:xfrm>
          <a:prstGeom prst="ellipse">
            <a:avLst/>
          </a:prstGeom>
          <a:solidFill>
            <a:srgbClr val="1B2540"/>
          </a:solidFill>
          <a:ln/>
        </p:spPr>
      </p:sp>
      <p:pic>
        <p:nvPicPr>
          <p:cNvPr id="8" name="Image 0" descr="icons/dev-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83" y="5028103"/>
            <a:ext cx="294803" cy="2948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28600" y="553212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069848" y="5175504"/>
            <a:ext cx="1221638" cy="0"/>
          </a:xfrm>
          <a:prstGeom prst="line">
            <a:avLst/>
          </a:prstGeom>
          <a:noFill/>
          <a:ln w="19050">
            <a:solidFill>
              <a:srgbClr val="26314A"/>
            </a:solidFill>
            <a:prstDash val="sysDot"/>
          </a:ln>
        </p:spPr>
      </p:sp>
      <p:sp>
        <p:nvSpPr>
          <p:cNvPr id="11" name="Shape 8"/>
          <p:cNvSpPr/>
          <p:nvPr/>
        </p:nvSpPr>
        <p:spPr>
          <a:xfrm>
            <a:off x="2291486" y="4892040"/>
            <a:ext cx="566928" cy="566928"/>
          </a:xfrm>
          <a:prstGeom prst="ellipse">
            <a:avLst/>
          </a:prstGeom>
          <a:solidFill>
            <a:srgbClr val="1B2540"/>
          </a:solidFill>
          <a:ln/>
        </p:spPr>
      </p:sp>
      <p:pic>
        <p:nvPicPr>
          <p:cNvPr id="12" name="Image 1" descr="icons/githu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549" y="5028103"/>
            <a:ext cx="294803" cy="29480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017166" y="553212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2858414" y="5175504"/>
            <a:ext cx="1221638" cy="0"/>
          </a:xfrm>
          <a:prstGeom prst="line">
            <a:avLst/>
          </a:prstGeom>
          <a:noFill/>
          <a:ln w="19050">
            <a:solidFill>
              <a:srgbClr val="26314A"/>
            </a:solidFill>
            <a:prstDash val="sysDot"/>
          </a:ln>
        </p:spPr>
      </p:sp>
      <p:sp>
        <p:nvSpPr>
          <p:cNvPr id="15" name="Shape 11"/>
          <p:cNvSpPr/>
          <p:nvPr/>
        </p:nvSpPr>
        <p:spPr>
          <a:xfrm>
            <a:off x="4080053" y="4892040"/>
            <a:ext cx="566928" cy="566928"/>
          </a:xfrm>
          <a:prstGeom prst="ellipse">
            <a:avLst/>
          </a:prstGeom>
          <a:solidFill>
            <a:srgbClr val="1B2540"/>
          </a:solidFill>
          <a:ln/>
        </p:spPr>
      </p:sp>
      <p:pic>
        <p:nvPicPr>
          <p:cNvPr id="16" name="Image 2" descr="icons/jenki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6116" y="5028103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805733" y="553212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646981" y="5175504"/>
            <a:ext cx="1221638" cy="0"/>
          </a:xfrm>
          <a:prstGeom prst="line">
            <a:avLst/>
          </a:prstGeom>
          <a:noFill/>
          <a:ln w="19050">
            <a:solidFill>
              <a:srgbClr val="26314A"/>
            </a:solidFill>
            <a:prstDash val="sysDot"/>
          </a:ln>
        </p:spPr>
      </p:sp>
      <p:sp>
        <p:nvSpPr>
          <p:cNvPr id="19" name="Shape 14"/>
          <p:cNvSpPr/>
          <p:nvPr/>
        </p:nvSpPr>
        <p:spPr>
          <a:xfrm>
            <a:off x="5868619" y="4892040"/>
            <a:ext cx="566928" cy="566928"/>
          </a:xfrm>
          <a:prstGeom prst="ellipse">
            <a:avLst/>
          </a:prstGeom>
          <a:solidFill>
            <a:srgbClr val="1B2540"/>
          </a:solidFill>
          <a:ln/>
        </p:spPr>
      </p:sp>
      <p:pic>
        <p:nvPicPr>
          <p:cNvPr id="20" name="Image 3" descr="icons/dock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4682" y="5028103"/>
            <a:ext cx="294803" cy="29480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594299" y="553212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6435547" y="5175504"/>
            <a:ext cx="1221638" cy="0"/>
          </a:xfrm>
          <a:prstGeom prst="line">
            <a:avLst/>
          </a:prstGeom>
          <a:noFill/>
          <a:ln w="19050">
            <a:solidFill>
              <a:srgbClr val="26314A"/>
            </a:solidFill>
            <a:prstDash val="sysDot"/>
          </a:ln>
        </p:spPr>
      </p:sp>
      <p:sp>
        <p:nvSpPr>
          <p:cNvPr id="23" name="Shape 17"/>
          <p:cNvSpPr/>
          <p:nvPr/>
        </p:nvSpPr>
        <p:spPr>
          <a:xfrm>
            <a:off x="7657186" y="4892040"/>
            <a:ext cx="566928" cy="566928"/>
          </a:xfrm>
          <a:prstGeom prst="ellipse">
            <a:avLst/>
          </a:prstGeom>
          <a:solidFill>
            <a:srgbClr val="1B2540"/>
          </a:solidFill>
          <a:ln/>
        </p:spPr>
      </p:sp>
      <p:pic>
        <p:nvPicPr>
          <p:cNvPr id="24" name="Image 4" descr="icons/kubernete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3248" y="5028103"/>
            <a:ext cx="294803" cy="294803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382866" y="553212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8224114" y="5175504"/>
            <a:ext cx="1221638" cy="0"/>
          </a:xfrm>
          <a:prstGeom prst="line">
            <a:avLst/>
          </a:prstGeom>
          <a:noFill/>
          <a:ln w="19050">
            <a:solidFill>
              <a:srgbClr val="26314A"/>
            </a:solidFill>
            <a:prstDash val="sysDot"/>
          </a:ln>
        </p:spPr>
      </p:sp>
      <p:sp>
        <p:nvSpPr>
          <p:cNvPr id="27" name="Shape 20"/>
          <p:cNvSpPr/>
          <p:nvPr/>
        </p:nvSpPr>
        <p:spPr>
          <a:xfrm>
            <a:off x="9445752" y="4892040"/>
            <a:ext cx="566928" cy="566928"/>
          </a:xfrm>
          <a:prstGeom prst="ellipse">
            <a:avLst/>
          </a:prstGeom>
          <a:solidFill>
            <a:srgbClr val="1B2540"/>
          </a:solidFill>
          <a:ln/>
        </p:spPr>
      </p:sp>
      <p:pic>
        <p:nvPicPr>
          <p:cNvPr id="28" name="Image 5" descr="icons/end-use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81815" y="5028103"/>
            <a:ext cx="294803" cy="294803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171432" y="553212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50" dirty="0"/>
          </a:p>
        </p:txBody>
      </p:sp>
      <p:sp>
        <p:nvSpPr>
          <p:cNvPr id="30" name="Text 22"/>
          <p:cNvSpPr/>
          <p:nvPr/>
        </p:nvSpPr>
        <p:spPr>
          <a:xfrm>
            <a:off x="50292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Hrushikesh Ulawekar</a:t>
            </a:r>
            <a:endParaRPr lang="en-US" sz="1100" dirty="0"/>
          </a:p>
        </p:txBody>
      </p:sp>
      <p:sp>
        <p:nvSpPr>
          <p:cNvPr id="31" name="Text 23"/>
          <p:cNvSpPr/>
          <p:nvPr/>
        </p:nvSpPr>
        <p:spPr>
          <a:xfrm>
            <a:off x="8762695" y="6355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A94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github.com/hrushikeshulawekar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walk through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074920" cy="621792"/>
          </a:xfrm>
          <a:prstGeom prst="roundRect">
            <a:avLst>
              <a:gd name="adj" fmla="val 10294"/>
            </a:avLst>
          </a:prstGeom>
          <a:solidFill>
            <a:srgbClr val="131B2E"/>
          </a:solidFill>
          <a:ln w="12700">
            <a:solidFill>
              <a:srgbClr val="2631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4088" y="1691640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216152" y="1810512"/>
            <a:ext cx="384048" cy="384048"/>
          </a:xfrm>
          <a:prstGeom prst="ellipse">
            <a:avLst/>
          </a:prstGeom>
          <a:solidFill>
            <a:srgbClr val="1B2540"/>
          </a:solidFill>
          <a:ln/>
        </p:spPr>
      </p:sp>
      <p:pic>
        <p:nvPicPr>
          <p:cNvPr id="7" name="Image 0" descr="icons/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2563" y="1896923"/>
            <a:ext cx="211226" cy="21122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28216" y="1691640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02920" y="2459736"/>
            <a:ext cx="5074920" cy="621792"/>
          </a:xfrm>
          <a:prstGeom prst="roundRect">
            <a:avLst>
              <a:gd name="adj" fmla="val 10294"/>
            </a:avLst>
          </a:prstGeom>
          <a:solidFill>
            <a:srgbClr val="131B2E"/>
          </a:solidFill>
          <a:ln w="12700">
            <a:solidFill>
              <a:srgbClr val="2631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04088" y="2459736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1216152" y="2578608"/>
            <a:ext cx="384048" cy="384048"/>
          </a:xfrm>
          <a:prstGeom prst="ellipse">
            <a:avLst/>
          </a:prstGeom>
          <a:solidFill>
            <a:srgbClr val="1B2540"/>
          </a:solidFill>
          <a:ln/>
        </p:spPr>
      </p:sp>
      <p:pic>
        <p:nvPicPr>
          <p:cNvPr id="12" name="Image 1" descr="icons/netwo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563" y="2665019"/>
            <a:ext cx="211226" cy="21122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28216" y="2459736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Tools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02920" y="3227832"/>
            <a:ext cx="5074920" cy="621792"/>
          </a:xfrm>
          <a:prstGeom prst="roundRect">
            <a:avLst>
              <a:gd name="adj" fmla="val 10294"/>
            </a:avLst>
          </a:prstGeom>
          <a:solidFill>
            <a:srgbClr val="131B2E"/>
          </a:solidFill>
          <a:ln w="12700">
            <a:solidFill>
              <a:srgbClr val="2631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704088" y="3227832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900" dirty="0"/>
          </a:p>
        </p:txBody>
      </p:sp>
      <p:sp>
        <p:nvSpPr>
          <p:cNvPr id="16" name="Shape 12"/>
          <p:cNvSpPr/>
          <p:nvPr/>
        </p:nvSpPr>
        <p:spPr>
          <a:xfrm>
            <a:off x="1216152" y="3346704"/>
            <a:ext cx="384048" cy="384048"/>
          </a:xfrm>
          <a:prstGeom prst="ellipse">
            <a:avLst/>
          </a:prstGeom>
          <a:solidFill>
            <a:srgbClr val="1B2540"/>
          </a:solidFill>
          <a:ln/>
        </p:spPr>
      </p:sp>
      <p:pic>
        <p:nvPicPr>
          <p:cNvPr id="17" name="Image 2" descr="icons/syn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2563" y="3433115"/>
            <a:ext cx="211226" cy="21122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28216" y="3227832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Flow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02920" y="3995928"/>
            <a:ext cx="5074920" cy="621792"/>
          </a:xfrm>
          <a:prstGeom prst="roundRect">
            <a:avLst>
              <a:gd name="adj" fmla="val 10294"/>
            </a:avLst>
          </a:prstGeom>
          <a:solidFill>
            <a:srgbClr val="131B2E"/>
          </a:solidFill>
          <a:ln w="12700">
            <a:solidFill>
              <a:srgbClr val="2631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704088" y="3995928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900" dirty="0"/>
          </a:p>
        </p:txBody>
      </p:sp>
      <p:sp>
        <p:nvSpPr>
          <p:cNvPr id="21" name="Shape 16"/>
          <p:cNvSpPr/>
          <p:nvPr/>
        </p:nvSpPr>
        <p:spPr>
          <a:xfrm>
            <a:off x="1216152" y="4114800"/>
            <a:ext cx="384048" cy="384048"/>
          </a:xfrm>
          <a:prstGeom prst="ellipse">
            <a:avLst/>
          </a:prstGeom>
          <a:solidFill>
            <a:srgbClr val="1B2540"/>
          </a:solidFill>
          <a:ln/>
        </p:spPr>
      </p:sp>
      <p:pic>
        <p:nvPicPr>
          <p:cNvPr id="22" name="Image 3" descr="icons/dock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2563" y="4201211"/>
            <a:ext cx="211226" cy="21122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728216" y="3995928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Kubernetes Implementation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502920" y="4764024"/>
            <a:ext cx="5074920" cy="621792"/>
          </a:xfrm>
          <a:prstGeom prst="roundRect">
            <a:avLst>
              <a:gd name="adj" fmla="val 10294"/>
            </a:avLst>
          </a:prstGeom>
          <a:solidFill>
            <a:srgbClr val="131B2E"/>
          </a:solidFill>
          <a:ln w="12700">
            <a:solidFill>
              <a:srgbClr val="2631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704088" y="4764024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900" dirty="0"/>
          </a:p>
        </p:txBody>
      </p:sp>
      <p:sp>
        <p:nvSpPr>
          <p:cNvPr id="26" name="Shape 20"/>
          <p:cNvSpPr/>
          <p:nvPr/>
        </p:nvSpPr>
        <p:spPr>
          <a:xfrm>
            <a:off x="1216152" y="4882896"/>
            <a:ext cx="384048" cy="384048"/>
          </a:xfrm>
          <a:prstGeom prst="ellipse">
            <a:avLst/>
          </a:prstGeom>
          <a:solidFill>
            <a:srgbClr val="1B2540"/>
          </a:solidFill>
          <a:ln/>
        </p:spPr>
      </p:sp>
      <p:pic>
        <p:nvPicPr>
          <p:cNvPr id="27" name="Image 4" descr="icons/box-op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2563" y="4969307"/>
            <a:ext cx="211226" cy="21122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728216" y="4764024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Strategy — Rolling Updates</a:t>
            </a:r>
            <a:endParaRPr lang="en-US" sz="1350" dirty="0"/>
          </a:p>
        </p:txBody>
      </p:sp>
      <p:sp>
        <p:nvSpPr>
          <p:cNvPr id="29" name="Shape 22"/>
          <p:cNvSpPr/>
          <p:nvPr/>
        </p:nvSpPr>
        <p:spPr>
          <a:xfrm>
            <a:off x="6035040" y="1691640"/>
            <a:ext cx="5074920" cy="621792"/>
          </a:xfrm>
          <a:prstGeom prst="roundRect">
            <a:avLst>
              <a:gd name="adj" fmla="val 10294"/>
            </a:avLst>
          </a:prstGeom>
          <a:solidFill>
            <a:srgbClr val="131B2E"/>
          </a:solidFill>
          <a:ln w="12700">
            <a:solidFill>
              <a:srgbClr val="2631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30" name="Text 23"/>
          <p:cNvSpPr/>
          <p:nvPr/>
        </p:nvSpPr>
        <p:spPr>
          <a:xfrm>
            <a:off x="6236208" y="1691640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900" dirty="0"/>
          </a:p>
        </p:txBody>
      </p:sp>
      <p:sp>
        <p:nvSpPr>
          <p:cNvPr id="31" name="Shape 24"/>
          <p:cNvSpPr/>
          <p:nvPr/>
        </p:nvSpPr>
        <p:spPr>
          <a:xfrm>
            <a:off x="6748272" y="1810512"/>
            <a:ext cx="384048" cy="384048"/>
          </a:xfrm>
          <a:prstGeom prst="ellipse">
            <a:avLst/>
          </a:prstGeom>
          <a:solidFill>
            <a:srgbClr val="1B2540"/>
          </a:solidFill>
          <a:ln/>
        </p:spPr>
      </p:sp>
      <p:pic>
        <p:nvPicPr>
          <p:cNvPr id="32" name="Image 5" descr="icons/und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4683" y="1896923"/>
            <a:ext cx="211226" cy="21122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260336" y="1691640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Rollback Strategy</a:t>
            </a:r>
            <a:endParaRPr lang="en-US" sz="1350" dirty="0"/>
          </a:p>
        </p:txBody>
      </p:sp>
      <p:sp>
        <p:nvSpPr>
          <p:cNvPr id="34" name="Shape 26"/>
          <p:cNvSpPr/>
          <p:nvPr/>
        </p:nvSpPr>
        <p:spPr>
          <a:xfrm>
            <a:off x="6035040" y="2459736"/>
            <a:ext cx="5074920" cy="621792"/>
          </a:xfrm>
          <a:prstGeom prst="roundRect">
            <a:avLst>
              <a:gd name="adj" fmla="val 10294"/>
            </a:avLst>
          </a:prstGeom>
          <a:solidFill>
            <a:srgbClr val="131B2E"/>
          </a:solidFill>
          <a:ln w="12700">
            <a:solidFill>
              <a:srgbClr val="2631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35" name="Text 27"/>
          <p:cNvSpPr/>
          <p:nvPr/>
        </p:nvSpPr>
        <p:spPr>
          <a:xfrm>
            <a:off x="6236208" y="2459736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900" dirty="0"/>
          </a:p>
        </p:txBody>
      </p:sp>
      <p:sp>
        <p:nvSpPr>
          <p:cNvPr id="36" name="Shape 28"/>
          <p:cNvSpPr/>
          <p:nvPr/>
        </p:nvSpPr>
        <p:spPr>
          <a:xfrm>
            <a:off x="6748272" y="2578608"/>
            <a:ext cx="384048" cy="384048"/>
          </a:xfrm>
          <a:prstGeom prst="ellipse">
            <a:avLst/>
          </a:prstGeom>
          <a:solidFill>
            <a:srgbClr val="1B2540"/>
          </a:solidFill>
          <a:ln/>
        </p:spPr>
      </p:sp>
      <p:pic>
        <p:nvPicPr>
          <p:cNvPr id="37" name="Image 6" descr="icons/clipboard-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34683" y="2665019"/>
            <a:ext cx="211226" cy="211226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7260336" y="2459736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Testing &amp; Verification</a:t>
            </a:r>
            <a:endParaRPr lang="en-US" sz="1350" dirty="0"/>
          </a:p>
        </p:txBody>
      </p:sp>
      <p:sp>
        <p:nvSpPr>
          <p:cNvPr id="39" name="Shape 30"/>
          <p:cNvSpPr/>
          <p:nvPr/>
        </p:nvSpPr>
        <p:spPr>
          <a:xfrm>
            <a:off x="6035040" y="3227832"/>
            <a:ext cx="5074920" cy="621792"/>
          </a:xfrm>
          <a:prstGeom prst="roundRect">
            <a:avLst>
              <a:gd name="adj" fmla="val 10294"/>
            </a:avLst>
          </a:prstGeom>
          <a:solidFill>
            <a:srgbClr val="131B2E"/>
          </a:solidFill>
          <a:ln w="12700">
            <a:solidFill>
              <a:srgbClr val="2631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40" name="Text 31"/>
          <p:cNvSpPr/>
          <p:nvPr/>
        </p:nvSpPr>
        <p:spPr>
          <a:xfrm>
            <a:off x="6236208" y="3227832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900" dirty="0"/>
          </a:p>
        </p:txBody>
      </p:sp>
      <p:sp>
        <p:nvSpPr>
          <p:cNvPr id="41" name="Shape 32"/>
          <p:cNvSpPr/>
          <p:nvPr/>
        </p:nvSpPr>
        <p:spPr>
          <a:xfrm>
            <a:off x="6748272" y="3346704"/>
            <a:ext cx="384048" cy="384048"/>
          </a:xfrm>
          <a:prstGeom prst="ellipse">
            <a:avLst/>
          </a:prstGeom>
          <a:solidFill>
            <a:srgbClr val="1B2540"/>
          </a:solidFill>
          <a:ln/>
        </p:spPr>
      </p:sp>
      <p:pic>
        <p:nvPicPr>
          <p:cNvPr id="42" name="Image 7" descr="icons/warning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34683" y="3433115"/>
            <a:ext cx="211226" cy="211226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7260336" y="3227832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Optimization</a:t>
            </a:r>
            <a:endParaRPr lang="en-US" sz="1350" dirty="0"/>
          </a:p>
        </p:txBody>
      </p:sp>
      <p:sp>
        <p:nvSpPr>
          <p:cNvPr id="44" name="Shape 34"/>
          <p:cNvSpPr/>
          <p:nvPr/>
        </p:nvSpPr>
        <p:spPr>
          <a:xfrm>
            <a:off x="6035040" y="3995928"/>
            <a:ext cx="5074920" cy="621792"/>
          </a:xfrm>
          <a:prstGeom prst="roundRect">
            <a:avLst>
              <a:gd name="adj" fmla="val 10294"/>
            </a:avLst>
          </a:prstGeom>
          <a:solidFill>
            <a:srgbClr val="131B2E"/>
          </a:solidFill>
          <a:ln w="12700">
            <a:solidFill>
              <a:srgbClr val="2631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45" name="Text 35"/>
          <p:cNvSpPr/>
          <p:nvPr/>
        </p:nvSpPr>
        <p:spPr>
          <a:xfrm>
            <a:off x="6236208" y="3995928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900" dirty="0"/>
          </a:p>
        </p:txBody>
      </p:sp>
      <p:sp>
        <p:nvSpPr>
          <p:cNvPr id="46" name="Shape 36"/>
          <p:cNvSpPr/>
          <p:nvPr/>
        </p:nvSpPr>
        <p:spPr>
          <a:xfrm>
            <a:off x="6748272" y="4114800"/>
            <a:ext cx="384048" cy="384048"/>
          </a:xfrm>
          <a:prstGeom prst="ellipse">
            <a:avLst/>
          </a:prstGeom>
          <a:solidFill>
            <a:srgbClr val="1B2540"/>
          </a:solidFill>
          <a:ln/>
        </p:spPr>
      </p:sp>
      <p:pic>
        <p:nvPicPr>
          <p:cNvPr id="47" name="Image 8" descr="icons/chart-lin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34683" y="4201211"/>
            <a:ext cx="211226" cy="211226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7260336" y="3995928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50" dirty="0"/>
          </a:p>
        </p:txBody>
      </p:sp>
      <p:sp>
        <p:nvSpPr>
          <p:cNvPr id="49" name="Shape 38"/>
          <p:cNvSpPr/>
          <p:nvPr/>
        </p:nvSpPr>
        <p:spPr>
          <a:xfrm>
            <a:off x="6035040" y="4764024"/>
            <a:ext cx="5074920" cy="621792"/>
          </a:xfrm>
          <a:prstGeom prst="roundRect">
            <a:avLst>
              <a:gd name="adj" fmla="val 10294"/>
            </a:avLst>
          </a:prstGeom>
          <a:solidFill>
            <a:srgbClr val="131B2E"/>
          </a:solidFill>
          <a:ln w="12700">
            <a:solidFill>
              <a:srgbClr val="2631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50" name="Text 39"/>
          <p:cNvSpPr/>
          <p:nvPr/>
        </p:nvSpPr>
        <p:spPr>
          <a:xfrm>
            <a:off x="6236208" y="4764024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900" dirty="0"/>
          </a:p>
        </p:txBody>
      </p:sp>
      <p:sp>
        <p:nvSpPr>
          <p:cNvPr id="51" name="Shape 40"/>
          <p:cNvSpPr/>
          <p:nvPr/>
        </p:nvSpPr>
        <p:spPr>
          <a:xfrm>
            <a:off x="6748272" y="4882896"/>
            <a:ext cx="384048" cy="384048"/>
          </a:xfrm>
          <a:prstGeom prst="ellipse">
            <a:avLst/>
          </a:prstGeom>
          <a:solidFill>
            <a:srgbClr val="1B2540"/>
          </a:solidFill>
          <a:ln/>
        </p:spPr>
      </p:sp>
      <p:pic>
        <p:nvPicPr>
          <p:cNvPr id="52" name="Image 9" descr="icons/flag-checker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34683" y="4969307"/>
            <a:ext cx="211226" cy="211226"/>
          </a:xfrm>
          <a:prstGeom prst="rect">
            <a:avLst/>
          </a:prstGeom>
        </p:spPr>
      </p:pic>
      <p:sp>
        <p:nvSpPr>
          <p:cNvPr id="53" name="Text 41"/>
          <p:cNvSpPr/>
          <p:nvPr/>
        </p:nvSpPr>
        <p:spPr>
          <a:xfrm>
            <a:off x="7260336" y="4764024"/>
            <a:ext cx="3703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68096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CI/CD pipeline?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implements a complete CI/CD pipeline that automates the build, test, and deployment of a Node.js application using Docker and Kubernetes (Minikube) — turning a manual, error-prone release process into a single repeatable workflow.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468880"/>
            <a:ext cx="3423818" cy="3429000"/>
          </a:xfrm>
          <a:prstGeom prst="roundRect">
            <a:avLst>
              <a:gd name="adj" fmla="val 2137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38100" dir="5400000">
              <a:srgbClr val="0A0F1C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788920"/>
            <a:ext cx="603504" cy="603504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7" name="Image 0" descr="icons/jenki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748" y="2924708"/>
            <a:ext cx="331927" cy="33192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566160"/>
            <a:ext cx="27837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CI/CD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22960" y="4096512"/>
            <a:ext cx="278373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pulls source, builds and versions Docker images, and pushes them to Docker Hub on every commit.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83938" y="2468880"/>
            <a:ext cx="3423818" cy="3429000"/>
          </a:xfrm>
          <a:prstGeom prst="roundRect">
            <a:avLst>
              <a:gd name="adj" fmla="val 2137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38100" dir="5400000">
              <a:srgbClr val="0A0F1C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3978" y="2788920"/>
            <a:ext cx="603504" cy="603504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12" name="Image 1" descr="icons/kubernet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9767" y="2924708"/>
            <a:ext cx="331927" cy="33192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3978" y="3566160"/>
            <a:ext cx="27837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Zero-Downtime Deploys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4703978" y="4096512"/>
            <a:ext cx="278373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images roll out to a Kubernetes cluster using rolling updates — users never see a service interruption.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264957" y="2468880"/>
            <a:ext cx="3423818" cy="3429000"/>
          </a:xfrm>
          <a:prstGeom prst="roundRect">
            <a:avLst>
              <a:gd name="adj" fmla="val 2137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38100" dir="5400000">
              <a:srgbClr val="0A0F1C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584997" y="2788920"/>
            <a:ext cx="603504" cy="603504"/>
          </a:xfrm>
          <a:prstGeom prst="ellipse">
            <a:avLst/>
          </a:prstGeom>
          <a:solidFill>
            <a:srgbClr val="A78BFA"/>
          </a:solidFill>
          <a:ln/>
        </p:spPr>
      </p:sp>
      <p:pic>
        <p:nvPicPr>
          <p:cNvPr id="17" name="Image 2" descr="icons/chart-l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0785" y="2924708"/>
            <a:ext cx="331927" cy="33192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84997" y="3566160"/>
            <a:ext cx="27837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Tuning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8584997" y="4096512"/>
            <a:ext cx="278373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 and resource tuning demonstrate practical, production-style optimization decisions.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68096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CI/CD pipeline for this app?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475488" cy="475488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5" name="Image 0" descr="icons/syn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905" y="1707185"/>
            <a:ext cx="261518" cy="2615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" y="1572768"/>
            <a:ext cx="470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build &amp; deployment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61288" y="1892808"/>
            <a:ext cx="470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manual builds with a single repeatable Jenkins pipeline.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02920" y="2514600"/>
            <a:ext cx="475488" cy="475488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9" name="Image 1" descr="icons/box-op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5" y="2621585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61288" y="2487168"/>
            <a:ext cx="470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containerization (Docker)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161288" y="2807208"/>
            <a:ext cx="470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the app with all dependencies into a portable image.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02920" y="3429000"/>
            <a:ext cx="475488" cy="475488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13" name="Image 2" descr="icons/kubernet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5" y="3535985"/>
            <a:ext cx="261518" cy="26151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61288" y="3401568"/>
            <a:ext cx="470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Kubernetes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161288" y="3721608"/>
            <a:ext cx="470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and manage containers at scale with Minikube.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02920" y="4343400"/>
            <a:ext cx="475488" cy="475488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17" name="Image 3" descr="icons/bo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905" y="4450385"/>
            <a:ext cx="261518" cy="26151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61288" y="4315968"/>
            <a:ext cx="470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zero downtime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161288" y="4636008"/>
            <a:ext cx="470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keep using the app uninterrupted during releases.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324448" y="1600200"/>
            <a:ext cx="475488" cy="475488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21" name="Image 4" descr="icons/und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1432" y="1707185"/>
            <a:ext cx="261518" cy="26151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982816" y="1572768"/>
            <a:ext cx="470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rolling updates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6982816" y="1892808"/>
            <a:ext cx="470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pods gradually instead of all at once.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6324448" y="2514600"/>
            <a:ext cx="475488" cy="475488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25" name="Image 5" descr="icons/shie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1432" y="2621585"/>
            <a:ext cx="261518" cy="26151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982816" y="2487168"/>
            <a:ext cx="470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rollback on failure</a:t>
            </a:r>
            <a:endParaRPr lang="en-US" sz="1450" dirty="0"/>
          </a:p>
        </p:txBody>
      </p:sp>
      <p:sp>
        <p:nvSpPr>
          <p:cNvPr id="27" name="Text 19"/>
          <p:cNvSpPr/>
          <p:nvPr/>
        </p:nvSpPr>
        <p:spPr>
          <a:xfrm>
            <a:off x="6982816" y="2807208"/>
            <a:ext cx="470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revert to the last stable version.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6324448" y="3429000"/>
            <a:ext cx="475488" cy="475488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29" name="Image 6" descr="icons/check-circ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1432" y="3535985"/>
            <a:ext cx="261518" cy="26151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982816" y="3401568"/>
            <a:ext cx="470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production stability</a:t>
            </a:r>
            <a:endParaRPr lang="en-US" sz="1450" dirty="0"/>
          </a:p>
        </p:txBody>
      </p:sp>
      <p:sp>
        <p:nvSpPr>
          <p:cNvPr id="31" name="Text 22"/>
          <p:cNvSpPr/>
          <p:nvPr/>
        </p:nvSpPr>
        <p:spPr>
          <a:xfrm>
            <a:off x="6982816" y="3721608"/>
            <a:ext cx="470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rails keep the cluster healthy at all times.</a:t>
            </a:r>
            <a:endParaRPr lang="en-US" sz="1150" dirty="0"/>
          </a:p>
        </p:txBody>
      </p:sp>
      <p:sp>
        <p:nvSpPr>
          <p:cNvPr id="32" name="Text 23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TOOLS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pieces fit together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696669" cy="3246120"/>
          </a:xfrm>
          <a:prstGeom prst="roundRect">
            <a:avLst>
              <a:gd name="adj" fmla="val 4312"/>
            </a:avLst>
          </a:prstGeom>
          <a:solidFill>
            <a:srgbClr val="131B2E"/>
          </a:solidFill>
          <a:ln w="12700">
            <a:solidFill>
              <a:srgbClr val="2631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22655" y="1856232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6" name="Image 0" descr="icons/dev-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5525" y="1959102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468880"/>
            <a:ext cx="15137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67512" y="2971800"/>
            <a:ext cx="136748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code</a:t>
            </a:r>
            <a:endParaRPr lang="en-US" sz="950" dirty="0"/>
          </a:p>
          <a:p>
            <a:pPr marL="114300" indent="-1143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to GitHub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181301" y="3140964"/>
            <a:ext cx="237744" cy="164592"/>
          </a:xfrm>
          <a:prstGeom prst="rightArrow">
            <a:avLst/>
          </a:prstGeom>
          <a:solidFill>
            <a:srgbClr val="26314A"/>
          </a:solidFill>
          <a:ln/>
        </p:spPr>
      </p:sp>
      <p:sp>
        <p:nvSpPr>
          <p:cNvPr id="10" name="Shape 7"/>
          <p:cNvSpPr/>
          <p:nvPr/>
        </p:nvSpPr>
        <p:spPr>
          <a:xfrm>
            <a:off x="2400757" y="1600200"/>
            <a:ext cx="1696669" cy="3246120"/>
          </a:xfrm>
          <a:prstGeom prst="roundRect">
            <a:avLst>
              <a:gd name="adj" fmla="val 4312"/>
            </a:avLst>
          </a:prstGeom>
          <a:solidFill>
            <a:srgbClr val="131B2E"/>
          </a:solidFill>
          <a:ln w="12700">
            <a:solidFill>
              <a:srgbClr val="2631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020492" y="1856232"/>
            <a:ext cx="457200" cy="457200"/>
          </a:xfrm>
          <a:prstGeom prst="ellipse">
            <a:avLst/>
          </a:prstGeom>
          <a:solidFill>
            <a:srgbClr val="A78BFA"/>
          </a:solidFill>
          <a:ln/>
        </p:spPr>
      </p:sp>
      <p:pic>
        <p:nvPicPr>
          <p:cNvPr id="12" name="Image 1" descr="icons/githu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3362" y="1959102"/>
            <a:ext cx="251460" cy="251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492197" y="2468880"/>
            <a:ext cx="15137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2565349" y="2971800"/>
            <a:ext cx="136748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source code</a:t>
            </a:r>
            <a:endParaRPr lang="en-US" sz="950" dirty="0"/>
          </a:p>
          <a:p>
            <a:pPr marL="114300" indent="-1143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Jenkins on push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079138" y="3140964"/>
            <a:ext cx="237744" cy="164592"/>
          </a:xfrm>
          <a:prstGeom prst="rightArrow">
            <a:avLst/>
          </a:prstGeom>
          <a:solidFill>
            <a:srgbClr val="26314A"/>
          </a:solidFill>
          <a:ln/>
        </p:spPr>
      </p:sp>
      <p:sp>
        <p:nvSpPr>
          <p:cNvPr id="16" name="Shape 12"/>
          <p:cNvSpPr/>
          <p:nvPr/>
        </p:nvSpPr>
        <p:spPr>
          <a:xfrm>
            <a:off x="4298594" y="1600200"/>
            <a:ext cx="1696669" cy="3246120"/>
          </a:xfrm>
          <a:prstGeom prst="roundRect">
            <a:avLst>
              <a:gd name="adj" fmla="val 4312"/>
            </a:avLst>
          </a:prstGeom>
          <a:solidFill>
            <a:srgbClr val="131B2E"/>
          </a:solidFill>
          <a:ln w="12700">
            <a:solidFill>
              <a:srgbClr val="2631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918329" y="1856232"/>
            <a:ext cx="457200" cy="457200"/>
          </a:xfrm>
          <a:prstGeom prst="ellipse">
            <a:avLst/>
          </a:prstGeom>
          <a:solidFill>
            <a:srgbClr val="FBBF24"/>
          </a:solidFill>
          <a:ln/>
        </p:spPr>
      </p:sp>
      <p:pic>
        <p:nvPicPr>
          <p:cNvPr id="18" name="Image 2" descr="icons/jenki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1199" y="1959102"/>
            <a:ext cx="251460" cy="2514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390034" y="2468880"/>
            <a:ext cx="15137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(CI/CD)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463186" y="2971800"/>
            <a:ext cx="136748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latest code</a:t>
            </a:r>
            <a:endParaRPr lang="en-US" sz="950" dirty="0"/>
          </a:p>
          <a:p>
            <a:pPr marL="114300" indent="-1143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&amp; tags image</a:t>
            </a:r>
            <a:endParaRPr lang="en-US" sz="950" dirty="0"/>
          </a:p>
          <a:p>
            <a:pPr marL="114300" indent="-1143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to Docker Hub</a:t>
            </a:r>
            <a:endParaRPr lang="en-US" sz="950" dirty="0"/>
          </a:p>
          <a:p>
            <a:pPr marL="114300" indent="-1143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 to cluster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5976976" y="3140964"/>
            <a:ext cx="237744" cy="164592"/>
          </a:xfrm>
          <a:prstGeom prst="rightArrow">
            <a:avLst/>
          </a:prstGeom>
          <a:solidFill>
            <a:srgbClr val="26314A"/>
          </a:solidFill>
          <a:ln/>
        </p:spPr>
      </p:sp>
      <p:sp>
        <p:nvSpPr>
          <p:cNvPr id="22" name="Shape 17"/>
          <p:cNvSpPr/>
          <p:nvPr/>
        </p:nvSpPr>
        <p:spPr>
          <a:xfrm>
            <a:off x="6196432" y="1600200"/>
            <a:ext cx="1696669" cy="3246120"/>
          </a:xfrm>
          <a:prstGeom prst="roundRect">
            <a:avLst>
              <a:gd name="adj" fmla="val 4312"/>
            </a:avLst>
          </a:prstGeom>
          <a:solidFill>
            <a:srgbClr val="131B2E"/>
          </a:solidFill>
          <a:ln w="12700">
            <a:solidFill>
              <a:srgbClr val="2631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816166" y="1856232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24" name="Image 3" descr="icons/dock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9036" y="1959102"/>
            <a:ext cx="251460" cy="2514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287872" y="2468880"/>
            <a:ext cx="15137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Hub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6361024" y="2971800"/>
            <a:ext cx="136748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versioned images</a:t>
            </a:r>
            <a:endParaRPr lang="en-US" sz="950" dirty="0"/>
          </a:p>
          <a:p>
            <a:pPr marL="114300" indent="-1143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for K8s pulls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7874813" y="3140964"/>
            <a:ext cx="237744" cy="164592"/>
          </a:xfrm>
          <a:prstGeom prst="rightArrow">
            <a:avLst/>
          </a:prstGeom>
          <a:solidFill>
            <a:srgbClr val="26314A"/>
          </a:solidFill>
          <a:ln/>
        </p:spPr>
      </p:sp>
      <p:sp>
        <p:nvSpPr>
          <p:cNvPr id="28" name="Shape 22"/>
          <p:cNvSpPr/>
          <p:nvPr/>
        </p:nvSpPr>
        <p:spPr>
          <a:xfrm>
            <a:off x="8094269" y="1600200"/>
            <a:ext cx="1696669" cy="3246120"/>
          </a:xfrm>
          <a:prstGeom prst="roundRect">
            <a:avLst>
              <a:gd name="adj" fmla="val 4312"/>
            </a:avLst>
          </a:prstGeom>
          <a:solidFill>
            <a:srgbClr val="131B2E"/>
          </a:solidFill>
          <a:ln w="12700">
            <a:solidFill>
              <a:srgbClr val="2631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8714003" y="1856232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30" name="Image 4" descr="icons/kubernete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6873" y="1959102"/>
            <a:ext cx="251460" cy="25146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185709" y="2468880"/>
            <a:ext cx="15137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(Minikube)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8258861" y="2971800"/>
            <a:ext cx="136748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pods/deployments</a:t>
            </a:r>
            <a:endParaRPr lang="en-US" sz="950" dirty="0"/>
          </a:p>
          <a:p>
            <a:pPr marL="114300" indent="-1143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updates</a:t>
            </a:r>
            <a:endParaRPr lang="en-US" sz="950" dirty="0"/>
          </a:p>
          <a:p>
            <a:pPr marL="114300" indent="-1143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downtime</a:t>
            </a:r>
            <a:endParaRPr lang="en-US" sz="950" dirty="0"/>
          </a:p>
          <a:p>
            <a:pPr marL="114300" indent="-1143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scaling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9772650" y="3140964"/>
            <a:ext cx="237744" cy="164592"/>
          </a:xfrm>
          <a:prstGeom prst="rightArrow">
            <a:avLst/>
          </a:prstGeom>
          <a:solidFill>
            <a:srgbClr val="26314A"/>
          </a:solidFill>
          <a:ln/>
        </p:spPr>
      </p:sp>
      <p:sp>
        <p:nvSpPr>
          <p:cNvPr id="34" name="Shape 27"/>
          <p:cNvSpPr/>
          <p:nvPr/>
        </p:nvSpPr>
        <p:spPr>
          <a:xfrm>
            <a:off x="9992106" y="1600200"/>
            <a:ext cx="1696669" cy="3246120"/>
          </a:xfrm>
          <a:prstGeom prst="roundRect">
            <a:avLst>
              <a:gd name="adj" fmla="val 4312"/>
            </a:avLst>
          </a:prstGeom>
          <a:solidFill>
            <a:srgbClr val="131B2E"/>
          </a:solidFill>
          <a:ln w="12700">
            <a:solidFill>
              <a:srgbClr val="2631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10611841" y="1856232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36" name="Image 5" descr="icons/end-use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4711" y="1959102"/>
            <a:ext cx="251460" cy="25146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083546" y="2468880"/>
            <a:ext cx="15137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User</a:t>
            </a:r>
            <a:endParaRPr lang="en-US" sz="1150" dirty="0"/>
          </a:p>
        </p:txBody>
      </p:sp>
      <p:sp>
        <p:nvSpPr>
          <p:cNvPr id="38" name="Text 30"/>
          <p:cNvSpPr/>
          <p:nvPr/>
        </p:nvSpPr>
        <p:spPr>
          <a:xfrm>
            <a:off x="10156698" y="2971800"/>
            <a:ext cx="136748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Accesses app via</a:t>
            </a:r>
            <a:endParaRPr lang="en-US" sz="950" dirty="0"/>
          </a:p>
          <a:p>
            <a:pPr marL="114300" indent="-1143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Service</a:t>
            </a:r>
            <a:endParaRPr lang="en-US" sz="950" dirty="0"/>
          </a:p>
        </p:txBody>
      </p:sp>
      <p:sp>
        <p:nvSpPr>
          <p:cNvPr id="39" name="Text 31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TOOLS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41" name="Shape 33"/>
          <p:cNvSpPr/>
          <p:nvPr/>
        </p:nvSpPr>
        <p:spPr>
          <a:xfrm>
            <a:off x="502920" y="5166360"/>
            <a:ext cx="11185855" cy="777240"/>
          </a:xfrm>
          <a:prstGeom prst="roundRect">
            <a:avLst>
              <a:gd name="adj" fmla="val 9412"/>
            </a:avLst>
          </a:prstGeom>
          <a:solidFill>
            <a:srgbClr val="1B2540"/>
          </a:solidFill>
          <a:ln w="12700">
            <a:solidFill>
              <a:srgbClr val="2631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777240" y="5358384"/>
            <a:ext cx="402336" cy="402336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43" name="Image 6" descr="icons/dock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7766" y="5448910"/>
            <a:ext cx="221285" cy="221285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1325880" y="5166360"/>
            <a:ext cx="10088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(Containerization)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the app with its dependencies into a portable image that flows between every stage above.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68096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commit to running pods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032986" y="2139696"/>
            <a:ext cx="1414211" cy="182880"/>
          </a:xfrm>
          <a:prstGeom prst="rightArrow">
            <a:avLst/>
          </a:prstGeom>
          <a:solidFill>
            <a:srgbClr val="DCE3EE"/>
          </a:solidFill>
          <a:ln/>
        </p:spPr>
      </p:sp>
      <p:sp>
        <p:nvSpPr>
          <p:cNvPr id="5" name="Shape 3"/>
          <p:cNvSpPr/>
          <p:nvPr/>
        </p:nvSpPr>
        <p:spPr>
          <a:xfrm>
            <a:off x="1264890" y="1874520"/>
            <a:ext cx="713232" cy="713232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6" name="Image 0" descr="icons/code-bran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3198" y="2052828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9130" y="2697480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61970" y="3008376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latest commit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70157" y="2139696"/>
            <a:ext cx="1414211" cy="182880"/>
          </a:xfrm>
          <a:prstGeom prst="rightArrow">
            <a:avLst/>
          </a:prstGeom>
          <a:solidFill>
            <a:srgbClr val="DCE3EE"/>
          </a:solidFill>
          <a:ln/>
        </p:spPr>
      </p:sp>
      <p:sp>
        <p:nvSpPr>
          <p:cNvPr id="10" name="Shape 7"/>
          <p:cNvSpPr/>
          <p:nvPr/>
        </p:nvSpPr>
        <p:spPr>
          <a:xfrm>
            <a:off x="3502061" y="1874520"/>
            <a:ext cx="713232" cy="713232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11" name="Image 1" descr="icons/too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369" y="2052828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136301" y="2697480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999141" y="3008376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 build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507328" y="2139696"/>
            <a:ext cx="1414211" cy="182880"/>
          </a:xfrm>
          <a:prstGeom prst="rightArrow">
            <a:avLst/>
          </a:prstGeom>
          <a:solidFill>
            <a:srgbClr val="DCE3EE"/>
          </a:solidFill>
          <a:ln/>
        </p:spPr>
      </p:sp>
      <p:sp>
        <p:nvSpPr>
          <p:cNvPr id="15" name="Shape 11"/>
          <p:cNvSpPr/>
          <p:nvPr/>
        </p:nvSpPr>
        <p:spPr>
          <a:xfrm>
            <a:off x="5739232" y="1874520"/>
            <a:ext cx="713232" cy="713232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16" name="Image 2" descr="icons/cloud-uplo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7540" y="2052828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73472" y="2697480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236312" y="3008376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&amp; push to Docker Hub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8744499" y="2139696"/>
            <a:ext cx="1414211" cy="182880"/>
          </a:xfrm>
          <a:prstGeom prst="rightArrow">
            <a:avLst/>
          </a:prstGeom>
          <a:solidFill>
            <a:srgbClr val="DCE3EE"/>
          </a:solidFill>
          <a:ln/>
        </p:spPr>
      </p:sp>
      <p:sp>
        <p:nvSpPr>
          <p:cNvPr id="20" name="Shape 15"/>
          <p:cNvSpPr/>
          <p:nvPr/>
        </p:nvSpPr>
        <p:spPr>
          <a:xfrm>
            <a:off x="7976403" y="1874520"/>
            <a:ext cx="713232" cy="713232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21" name="Image 3" descr="icons/kubernet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4711" y="2052828"/>
            <a:ext cx="356616" cy="35661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10643" y="2697480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473483" y="3008376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update to cluster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10213574" y="1874520"/>
            <a:ext cx="713232" cy="713232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25" name="Image 4" descr="icons/check-circ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91882" y="2052828"/>
            <a:ext cx="356616" cy="35661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847814" y="2697480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9710654" y="3008376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version live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502920" y="3977640"/>
            <a:ext cx="11185855" cy="1783080"/>
          </a:xfrm>
          <a:prstGeom prst="roundRect">
            <a:avLst>
              <a:gd name="adj" fmla="val 4103"/>
            </a:avLst>
          </a:prstGeom>
          <a:solidFill>
            <a:srgbClr val="FFF7F0"/>
          </a:solidFill>
          <a:ln w="12700">
            <a:solidFill>
              <a:srgbClr val="FBD9B8"/>
            </a:solidFill>
            <a:prstDash val="solid"/>
          </a:ln>
          <a:effectLst>
            <a:outerShdw sx="100000" sy="100000" kx="0" ky="0" algn="bl" rotWithShape="0" blurRad="101600" dist="38100" dir="5400000">
              <a:srgbClr val="0A0F1C">
                <a:alpha val="18000"/>
              </a:srgbClr>
            </a:outerShdw>
          </a:effectLst>
        </p:spPr>
      </p:sp>
      <p:sp>
        <p:nvSpPr>
          <p:cNvPr id="29" name="Text 22"/>
          <p:cNvSpPr/>
          <p:nvPr/>
        </p:nvSpPr>
        <p:spPr>
          <a:xfrm>
            <a:off x="822960" y="41788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DEPLOY FAILURE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1976095" y="4837176"/>
            <a:ext cx="1208989" cy="128016"/>
          </a:xfrm>
          <a:prstGeom prst="rightArrow">
            <a:avLst/>
          </a:prstGeom>
          <a:solidFill>
            <a:srgbClr val="F0C29A"/>
          </a:solidFill>
          <a:ln/>
        </p:spPr>
      </p:sp>
      <p:sp>
        <p:nvSpPr>
          <p:cNvPr id="31" name="Shape 24"/>
          <p:cNvSpPr/>
          <p:nvPr/>
        </p:nvSpPr>
        <p:spPr>
          <a:xfrm>
            <a:off x="1464031" y="4663440"/>
            <a:ext cx="475488" cy="475488"/>
          </a:xfrm>
          <a:prstGeom prst="ellipse">
            <a:avLst/>
          </a:prstGeom>
          <a:solidFill>
            <a:srgbClr val="475569"/>
          </a:solidFill>
          <a:ln/>
        </p:spPr>
      </p:sp>
      <p:pic>
        <p:nvPicPr>
          <p:cNvPr id="32" name="Image 5" descr="icons/code-branc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8148" y="4777557"/>
            <a:ext cx="247254" cy="24725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143991" y="521208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3733724" y="4837176"/>
            <a:ext cx="1208989" cy="128016"/>
          </a:xfrm>
          <a:prstGeom prst="rightArrow">
            <a:avLst/>
          </a:prstGeom>
          <a:solidFill>
            <a:srgbClr val="F0C29A"/>
          </a:solidFill>
          <a:ln/>
        </p:spPr>
      </p:sp>
      <p:sp>
        <p:nvSpPr>
          <p:cNvPr id="35" name="Shape 27"/>
          <p:cNvSpPr/>
          <p:nvPr/>
        </p:nvSpPr>
        <p:spPr>
          <a:xfrm>
            <a:off x="3221660" y="4663440"/>
            <a:ext cx="475488" cy="475488"/>
          </a:xfrm>
          <a:prstGeom prst="ellipse">
            <a:avLst/>
          </a:prstGeom>
          <a:solidFill>
            <a:srgbClr val="475569"/>
          </a:solidFill>
          <a:ln/>
        </p:spPr>
      </p:sp>
      <p:pic>
        <p:nvPicPr>
          <p:cNvPr id="36" name="Image 6" descr="icons/tool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5777" y="4777557"/>
            <a:ext cx="247254" cy="24725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2901620" y="521208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950" dirty="0"/>
          </a:p>
        </p:txBody>
      </p:sp>
      <p:sp>
        <p:nvSpPr>
          <p:cNvPr id="38" name="Shape 29"/>
          <p:cNvSpPr/>
          <p:nvPr/>
        </p:nvSpPr>
        <p:spPr>
          <a:xfrm>
            <a:off x="5491353" y="4837176"/>
            <a:ext cx="1208989" cy="128016"/>
          </a:xfrm>
          <a:prstGeom prst="rightArrow">
            <a:avLst/>
          </a:prstGeom>
          <a:solidFill>
            <a:srgbClr val="F0C29A"/>
          </a:solidFill>
          <a:ln/>
        </p:spPr>
      </p:sp>
      <p:sp>
        <p:nvSpPr>
          <p:cNvPr id="39" name="Shape 30"/>
          <p:cNvSpPr/>
          <p:nvPr/>
        </p:nvSpPr>
        <p:spPr>
          <a:xfrm>
            <a:off x="4979289" y="4663440"/>
            <a:ext cx="475488" cy="475488"/>
          </a:xfrm>
          <a:prstGeom prst="ellipse">
            <a:avLst/>
          </a:prstGeom>
          <a:solidFill>
            <a:srgbClr val="475569"/>
          </a:solidFill>
          <a:ln/>
        </p:spPr>
      </p:sp>
      <p:pic>
        <p:nvPicPr>
          <p:cNvPr id="40" name="Image 7" descr="icons/cloud-uploa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93406" y="4777557"/>
            <a:ext cx="247254" cy="247254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4659249" y="521208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950" dirty="0"/>
          </a:p>
        </p:txBody>
      </p:sp>
      <p:sp>
        <p:nvSpPr>
          <p:cNvPr id="42" name="Shape 32"/>
          <p:cNvSpPr/>
          <p:nvPr/>
        </p:nvSpPr>
        <p:spPr>
          <a:xfrm>
            <a:off x="7248982" y="4837176"/>
            <a:ext cx="1208989" cy="128016"/>
          </a:xfrm>
          <a:prstGeom prst="rightArrow">
            <a:avLst/>
          </a:prstGeom>
          <a:solidFill>
            <a:srgbClr val="F0C29A"/>
          </a:solidFill>
          <a:ln/>
        </p:spPr>
      </p:sp>
      <p:sp>
        <p:nvSpPr>
          <p:cNvPr id="43" name="Shape 33"/>
          <p:cNvSpPr/>
          <p:nvPr/>
        </p:nvSpPr>
        <p:spPr>
          <a:xfrm>
            <a:off x="6736918" y="4663440"/>
            <a:ext cx="475488" cy="475488"/>
          </a:xfrm>
          <a:prstGeom prst="ellipse">
            <a:avLst/>
          </a:prstGeom>
          <a:solidFill>
            <a:srgbClr val="FB7185"/>
          </a:solidFill>
          <a:ln/>
        </p:spPr>
      </p:sp>
      <p:pic>
        <p:nvPicPr>
          <p:cNvPr id="44" name="Image 8" descr="icons/times-circl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1035" y="4777557"/>
            <a:ext cx="247254" cy="247254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6416878" y="521208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Fails</a:t>
            </a:r>
            <a:endParaRPr lang="en-US" sz="950" dirty="0"/>
          </a:p>
        </p:txBody>
      </p:sp>
      <p:sp>
        <p:nvSpPr>
          <p:cNvPr id="46" name="Shape 35"/>
          <p:cNvSpPr/>
          <p:nvPr/>
        </p:nvSpPr>
        <p:spPr>
          <a:xfrm>
            <a:off x="9006611" y="4837176"/>
            <a:ext cx="1208989" cy="128016"/>
          </a:xfrm>
          <a:prstGeom prst="rightArrow">
            <a:avLst/>
          </a:prstGeom>
          <a:solidFill>
            <a:srgbClr val="F0C29A"/>
          </a:solidFill>
          <a:ln/>
        </p:spPr>
      </p:sp>
      <p:sp>
        <p:nvSpPr>
          <p:cNvPr id="47" name="Shape 36"/>
          <p:cNvSpPr/>
          <p:nvPr/>
        </p:nvSpPr>
        <p:spPr>
          <a:xfrm>
            <a:off x="8494547" y="4663440"/>
            <a:ext cx="475488" cy="475488"/>
          </a:xfrm>
          <a:prstGeom prst="ellipse">
            <a:avLst/>
          </a:prstGeom>
          <a:solidFill>
            <a:srgbClr val="FB7185"/>
          </a:solidFill>
          <a:ln/>
        </p:spPr>
      </p:sp>
      <p:pic>
        <p:nvPicPr>
          <p:cNvPr id="48" name="Image 9" descr="icons/undo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08665" y="4777557"/>
            <a:ext cx="247254" cy="247254"/>
          </a:xfrm>
          <a:prstGeom prst="rect">
            <a:avLst/>
          </a:prstGeom>
        </p:spPr>
      </p:pic>
      <p:sp>
        <p:nvSpPr>
          <p:cNvPr id="49" name="Text 37"/>
          <p:cNvSpPr/>
          <p:nvPr/>
        </p:nvSpPr>
        <p:spPr>
          <a:xfrm>
            <a:off x="8174507" y="521208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Rollback</a:t>
            </a:r>
            <a:endParaRPr lang="en-US" sz="950" dirty="0"/>
          </a:p>
        </p:txBody>
      </p:sp>
      <p:sp>
        <p:nvSpPr>
          <p:cNvPr id="50" name="Shape 38"/>
          <p:cNvSpPr/>
          <p:nvPr/>
        </p:nvSpPr>
        <p:spPr>
          <a:xfrm>
            <a:off x="10252177" y="4663440"/>
            <a:ext cx="475488" cy="475488"/>
          </a:xfrm>
          <a:prstGeom prst="ellipse">
            <a:avLst/>
          </a:prstGeom>
          <a:solidFill>
            <a:srgbClr val="FB7185"/>
          </a:solidFill>
          <a:ln/>
        </p:spPr>
      </p:sp>
      <p:pic>
        <p:nvPicPr>
          <p:cNvPr id="51" name="Image 10" descr="icons/warning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66294" y="4777557"/>
            <a:ext cx="247254" cy="247254"/>
          </a:xfrm>
          <a:prstGeom prst="rect">
            <a:avLst/>
          </a:prstGeom>
        </p:spPr>
      </p:pic>
      <p:sp>
        <p:nvSpPr>
          <p:cNvPr id="52" name="Text 39"/>
          <p:cNvSpPr/>
          <p:nvPr/>
        </p:nvSpPr>
        <p:spPr>
          <a:xfrm>
            <a:off x="9932137" y="521208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FAILURE</a:t>
            </a:r>
            <a:endParaRPr lang="en-US" sz="950" dirty="0"/>
          </a:p>
        </p:txBody>
      </p:sp>
      <p:sp>
        <p:nvSpPr>
          <p:cNvPr id="53" name="Text 40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FLOW</a:t>
            </a:r>
            <a:endParaRPr lang="en-US" sz="900" dirty="0"/>
          </a:p>
        </p:txBody>
      </p:sp>
      <p:sp>
        <p:nvSpPr>
          <p:cNvPr id="54" name="Text 41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KUBERNETES 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68096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Thirteen steps, from local app to a self-healing pipeline. The following slides walk through each one.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103120"/>
            <a:ext cx="384048" cy="38404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066544"/>
            <a:ext cx="2920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Node.js app &amp; Dockerfile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971800"/>
            <a:ext cx="384048" cy="38404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2935224"/>
            <a:ext cx="2920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code to GitHub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3840480"/>
            <a:ext cx="384048" cy="38404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3803904"/>
            <a:ext cx="2920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Git, Docker, Kubernetes, Minikube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4709160"/>
            <a:ext cx="384048" cy="38404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4672584"/>
            <a:ext cx="2920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Docker Hub repository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5577840"/>
            <a:ext cx="384048" cy="38404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5577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5840" y="5541264"/>
            <a:ext cx="2920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Jenkins plugins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83938" y="2103120"/>
            <a:ext cx="384048" cy="38404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1" name="Text 19"/>
          <p:cNvSpPr/>
          <p:nvPr/>
        </p:nvSpPr>
        <p:spPr>
          <a:xfrm>
            <a:off x="4383938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886858" y="2066544"/>
            <a:ext cx="2920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Jenkins admin privileges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83938" y="2971800"/>
            <a:ext cx="384048" cy="38404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4" name="Text 22"/>
          <p:cNvSpPr/>
          <p:nvPr/>
        </p:nvSpPr>
        <p:spPr>
          <a:xfrm>
            <a:off x="4383938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886858" y="2935224"/>
            <a:ext cx="2920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Minikube &amp; enable metrics-server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83938" y="3840480"/>
            <a:ext cx="384048" cy="38404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7" name="Text 25"/>
          <p:cNvSpPr/>
          <p:nvPr/>
        </p:nvSpPr>
        <p:spPr>
          <a:xfrm>
            <a:off x="4383938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886858" y="3803904"/>
            <a:ext cx="2920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Jenkins to kubectl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383938" y="4709160"/>
            <a:ext cx="384048" cy="38404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0" name="Text 28"/>
          <p:cNvSpPr/>
          <p:nvPr/>
        </p:nvSpPr>
        <p:spPr>
          <a:xfrm>
            <a:off x="4383938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886858" y="4672584"/>
            <a:ext cx="2920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Kubernetes YAML manifests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383938" y="5577840"/>
            <a:ext cx="384048" cy="38404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3" name="Text 31"/>
          <p:cNvSpPr/>
          <p:nvPr/>
        </p:nvSpPr>
        <p:spPr>
          <a:xfrm>
            <a:off x="4383938" y="5577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886858" y="5541264"/>
            <a:ext cx="2920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Docker Hub credentials to Jenkins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264957" y="2103120"/>
            <a:ext cx="384048" cy="38404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6" name="Text 34"/>
          <p:cNvSpPr/>
          <p:nvPr/>
        </p:nvSpPr>
        <p:spPr>
          <a:xfrm>
            <a:off x="8264957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767877" y="2066544"/>
            <a:ext cx="2920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Jenkins pipeline job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264957" y="2971800"/>
            <a:ext cx="384048" cy="38404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9" name="Text 37"/>
          <p:cNvSpPr/>
          <p:nvPr/>
        </p:nvSpPr>
        <p:spPr>
          <a:xfrm>
            <a:off x="8264957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8767877" y="2935224"/>
            <a:ext cx="2920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first manual build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264957" y="3840480"/>
            <a:ext cx="384048" cy="38404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42" name="Text 40"/>
          <p:cNvSpPr/>
          <p:nvPr/>
        </p:nvSpPr>
        <p:spPr>
          <a:xfrm>
            <a:off x="8264957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8767877" y="3803904"/>
            <a:ext cx="2920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pods, service &amp; automatic builds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KUBERNETES IMPLEMENTATION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OF 13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Node.js app &amp; Dockerfile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the React/Node.js application locally, then write a Dockerfile that defines how the app is built and run inside a container — the foundation every later stage builds 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666490" y="2167128"/>
            <a:ext cx="6858715" cy="3941064"/>
          </a:xfrm>
          <a:prstGeom prst="roundRect">
            <a:avLst>
              <a:gd name="adj" fmla="val 1392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38100" dir="5400000">
              <a:srgbClr val="0A0F1C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666490" y="2167128"/>
            <a:ext cx="6858715" cy="237744"/>
          </a:xfrm>
          <a:prstGeom prst="roundRect">
            <a:avLst>
              <a:gd name="adj" fmla="val 23077"/>
            </a:avLst>
          </a:prstGeom>
          <a:solidFill>
            <a:srgbClr val="EEF2F9"/>
          </a:solidFill>
          <a:ln/>
        </p:spPr>
      </p:sp>
      <p:sp>
        <p:nvSpPr>
          <p:cNvPr id="7" name="Shape 5"/>
          <p:cNvSpPr/>
          <p:nvPr/>
        </p:nvSpPr>
        <p:spPr>
          <a:xfrm>
            <a:off x="2666490" y="2286000"/>
            <a:ext cx="6858715" cy="118872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8" name="Shape 6"/>
          <p:cNvSpPr/>
          <p:nvPr/>
        </p:nvSpPr>
        <p:spPr>
          <a:xfrm>
            <a:off x="2794506" y="2244852"/>
            <a:ext cx="82296" cy="82296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9" name="Shape 7"/>
          <p:cNvSpPr/>
          <p:nvPr/>
        </p:nvSpPr>
        <p:spPr>
          <a:xfrm>
            <a:off x="2959098" y="2244852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0" name="Shape 8"/>
          <p:cNvSpPr/>
          <p:nvPr/>
        </p:nvSpPr>
        <p:spPr>
          <a:xfrm>
            <a:off x="3123690" y="2244852"/>
            <a:ext cx="82296" cy="82296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11" name="Image 0" descr="images-cropped/img-create-ap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2794" y="2496312"/>
            <a:ext cx="6566107" cy="350215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KUBERNETES IMPLEMENTATION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OF 13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the code to GitHub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repository and push the application source so Jenkins has a single source of truth to pull from on every build, and so changes are version-controlled from day one.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78557" y="2167128"/>
            <a:ext cx="8434581" cy="3941064"/>
          </a:xfrm>
          <a:prstGeom prst="roundRect">
            <a:avLst>
              <a:gd name="adj" fmla="val 1392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38100" dir="5400000">
              <a:srgbClr val="0A0F1C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78557" y="2167128"/>
            <a:ext cx="8434581" cy="237744"/>
          </a:xfrm>
          <a:prstGeom prst="roundRect">
            <a:avLst>
              <a:gd name="adj" fmla="val 23077"/>
            </a:avLst>
          </a:prstGeom>
          <a:solidFill>
            <a:srgbClr val="EEF2F9"/>
          </a:solidFill>
          <a:ln/>
        </p:spPr>
      </p:sp>
      <p:sp>
        <p:nvSpPr>
          <p:cNvPr id="7" name="Shape 5"/>
          <p:cNvSpPr/>
          <p:nvPr/>
        </p:nvSpPr>
        <p:spPr>
          <a:xfrm>
            <a:off x="1878557" y="2286000"/>
            <a:ext cx="8434581" cy="118872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8" name="Shape 6"/>
          <p:cNvSpPr/>
          <p:nvPr/>
        </p:nvSpPr>
        <p:spPr>
          <a:xfrm>
            <a:off x="2006573" y="2244852"/>
            <a:ext cx="82296" cy="82296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9" name="Shape 7"/>
          <p:cNvSpPr/>
          <p:nvPr/>
        </p:nvSpPr>
        <p:spPr>
          <a:xfrm>
            <a:off x="2171165" y="2244852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0" name="Shape 8"/>
          <p:cNvSpPr/>
          <p:nvPr/>
        </p:nvSpPr>
        <p:spPr>
          <a:xfrm>
            <a:off x="2335757" y="2244852"/>
            <a:ext cx="82296" cy="82296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11" name="Image 0" descr="images-cropped/img-github-pu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4861" y="2496312"/>
            <a:ext cx="8141973" cy="350215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KUBERNETES IMPLEMENTATION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OF 13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toolchain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tools are installed on the virtual machine before any pipeline work begins.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468880"/>
            <a:ext cx="1944563" cy="2834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38100" dir="5400000">
              <a:srgbClr val="0A0F1C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6018" y="2926080"/>
            <a:ext cx="658368" cy="658368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7" name="Image 0" descr="icons/code-bran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4150" y="3074213"/>
            <a:ext cx="362102" cy="3621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3840480"/>
            <a:ext cx="17616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594360" y="4279392"/>
            <a:ext cx="176168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813243" y="2468880"/>
            <a:ext cx="1944563" cy="2834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38100" dir="5400000">
              <a:srgbClr val="0A0F1C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56341" y="2926080"/>
            <a:ext cx="658368" cy="658368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12" name="Image 1" descr="icons/jenki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4473" y="3074213"/>
            <a:ext cx="362102" cy="3621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04683" y="3840480"/>
            <a:ext cx="17616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2904683" y="4279392"/>
            <a:ext cx="176168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automation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123566" y="2468880"/>
            <a:ext cx="1944563" cy="2834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38100" dir="5400000">
              <a:srgbClr val="0A0F1C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766664" y="2926080"/>
            <a:ext cx="658368" cy="658368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17" name="Image 2" descr="icons/dock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796" y="3074213"/>
            <a:ext cx="362102" cy="3621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215006" y="3840480"/>
            <a:ext cx="17616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5215006" y="4279392"/>
            <a:ext cx="176168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7433889" y="2468880"/>
            <a:ext cx="1944563" cy="2834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38100" dir="5400000">
              <a:srgbClr val="0A0F1C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076987" y="2926080"/>
            <a:ext cx="658368" cy="658368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22" name="Image 3" descr="icons/kubernet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5119" y="3074213"/>
            <a:ext cx="362102" cy="36210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525329" y="3840480"/>
            <a:ext cx="17616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7525329" y="4279392"/>
            <a:ext cx="176168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9744212" y="2468880"/>
            <a:ext cx="1944563" cy="2834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38100" dir="5400000">
              <a:srgbClr val="0A0F1C">
                <a:alpha val="1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10387310" y="2926080"/>
            <a:ext cx="658368" cy="658368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27" name="Image 4" descr="icons/serv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5442" y="3074213"/>
            <a:ext cx="362102" cy="36210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835652" y="3840480"/>
            <a:ext cx="17616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Minikube</a:t>
            </a:r>
            <a:endParaRPr lang="en-US" sz="1550" dirty="0"/>
          </a:p>
        </p:txBody>
      </p:sp>
      <p:sp>
        <p:nvSpPr>
          <p:cNvPr id="29" name="Text 22"/>
          <p:cNvSpPr/>
          <p:nvPr/>
        </p:nvSpPr>
        <p:spPr>
          <a:xfrm>
            <a:off x="9835652" y="4279392"/>
            <a:ext cx="176168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K8s cluster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KUBERNETES IMPLEMENTATION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OF 13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Docker Hub repository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 Docker Hub repository to act as the registry for every image Jenkins builds — versioned, pullable, and ready for Kubernetes to deploy from.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432408" y="2279681"/>
            <a:ext cx="9326880" cy="3715957"/>
          </a:xfrm>
          <a:prstGeom prst="roundRect">
            <a:avLst>
              <a:gd name="adj" fmla="val 147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38100" dir="5400000">
              <a:srgbClr val="0A0F1C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32408" y="2279681"/>
            <a:ext cx="9326880" cy="237744"/>
          </a:xfrm>
          <a:prstGeom prst="roundRect">
            <a:avLst>
              <a:gd name="adj" fmla="val 23077"/>
            </a:avLst>
          </a:prstGeom>
          <a:solidFill>
            <a:srgbClr val="EEF2F9"/>
          </a:solidFill>
          <a:ln/>
        </p:spPr>
      </p:sp>
      <p:sp>
        <p:nvSpPr>
          <p:cNvPr id="7" name="Shape 5"/>
          <p:cNvSpPr/>
          <p:nvPr/>
        </p:nvSpPr>
        <p:spPr>
          <a:xfrm>
            <a:off x="1432408" y="2398553"/>
            <a:ext cx="9326880" cy="118872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8" name="Shape 6"/>
          <p:cNvSpPr/>
          <p:nvPr/>
        </p:nvSpPr>
        <p:spPr>
          <a:xfrm>
            <a:off x="1560424" y="2357405"/>
            <a:ext cx="82296" cy="82296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9" name="Shape 7"/>
          <p:cNvSpPr/>
          <p:nvPr/>
        </p:nvSpPr>
        <p:spPr>
          <a:xfrm>
            <a:off x="1725016" y="2357405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0" name="Shape 8"/>
          <p:cNvSpPr/>
          <p:nvPr/>
        </p:nvSpPr>
        <p:spPr>
          <a:xfrm>
            <a:off x="1889608" y="2357405"/>
            <a:ext cx="82296" cy="82296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11" name="Image 0" descr="images-cropped/img-dockerhub-re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8712" y="2608865"/>
            <a:ext cx="9034272" cy="327704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KUBERNETES IMPLEMENTATION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OF 13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Jenkins &amp; required plugins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Jenkins username and password, install the suggested plugin set, then add four core plugins the pipeline depends on: Git, Docker Pipeline, Pipeline, and Credentials.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70271" y="2167128"/>
            <a:ext cx="7651153" cy="3941064"/>
          </a:xfrm>
          <a:prstGeom prst="roundRect">
            <a:avLst>
              <a:gd name="adj" fmla="val 1392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38100" dir="5400000">
              <a:srgbClr val="0A0F1C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70271" y="2167128"/>
            <a:ext cx="7651153" cy="237744"/>
          </a:xfrm>
          <a:prstGeom prst="roundRect">
            <a:avLst>
              <a:gd name="adj" fmla="val 23077"/>
            </a:avLst>
          </a:prstGeom>
          <a:solidFill>
            <a:srgbClr val="EEF2F9"/>
          </a:solidFill>
          <a:ln/>
        </p:spPr>
      </p:sp>
      <p:sp>
        <p:nvSpPr>
          <p:cNvPr id="7" name="Shape 5"/>
          <p:cNvSpPr/>
          <p:nvPr/>
        </p:nvSpPr>
        <p:spPr>
          <a:xfrm>
            <a:off x="2270271" y="2286000"/>
            <a:ext cx="7651153" cy="118872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8" name="Shape 6"/>
          <p:cNvSpPr/>
          <p:nvPr/>
        </p:nvSpPr>
        <p:spPr>
          <a:xfrm>
            <a:off x="2398287" y="2244852"/>
            <a:ext cx="82296" cy="82296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9" name="Shape 7"/>
          <p:cNvSpPr/>
          <p:nvPr/>
        </p:nvSpPr>
        <p:spPr>
          <a:xfrm>
            <a:off x="2562879" y="2244852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0" name="Shape 8"/>
          <p:cNvSpPr/>
          <p:nvPr/>
        </p:nvSpPr>
        <p:spPr>
          <a:xfrm>
            <a:off x="2727471" y="2244852"/>
            <a:ext cx="82296" cy="82296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11" name="Image 0" descr="images-cropped/img-jenkins-plugi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6575" y="2496312"/>
            <a:ext cx="7358545" cy="350215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KUBERNETES IMPLEMENTATION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OF 13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Jenkins administrative privilege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needs sudo-level access so it can run Docker builds and call kubectl directly — done by adding the jenkins user to the right system groups.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045344"/>
            <a:ext cx="6675120" cy="4001753"/>
          </a:xfrm>
          <a:prstGeom prst="roundRect">
            <a:avLst>
              <a:gd name="adj" fmla="val 1371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38100" dir="5400000">
              <a:srgbClr val="0A0F1C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2045344"/>
            <a:ext cx="6675120" cy="237744"/>
          </a:xfrm>
          <a:prstGeom prst="roundRect">
            <a:avLst>
              <a:gd name="adj" fmla="val 23077"/>
            </a:avLst>
          </a:prstGeom>
          <a:solidFill>
            <a:srgbClr val="EEF2F9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2164216"/>
            <a:ext cx="6675120" cy="118872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8" name="Shape 6"/>
          <p:cNvSpPr/>
          <p:nvPr/>
        </p:nvSpPr>
        <p:spPr>
          <a:xfrm>
            <a:off x="630936" y="2123068"/>
            <a:ext cx="82296" cy="82296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9" name="Shape 7"/>
          <p:cNvSpPr/>
          <p:nvPr/>
        </p:nvSpPr>
        <p:spPr>
          <a:xfrm>
            <a:off x="795528" y="2123068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0" name="Shape 8"/>
          <p:cNvSpPr/>
          <p:nvPr/>
        </p:nvSpPr>
        <p:spPr>
          <a:xfrm>
            <a:off x="960120" y="2123068"/>
            <a:ext cx="82296" cy="82296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11" name="Image 0" descr="images-cropped/img-jenkins-admin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374528"/>
            <a:ext cx="6382512" cy="3562841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634655" y="2029968"/>
            <a:ext cx="3871826" cy="4032504"/>
          </a:xfrm>
          <a:prstGeom prst="roundRect">
            <a:avLst>
              <a:gd name="adj" fmla="val 1417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38100" dir="5400000">
              <a:srgbClr val="0A0F1C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634655" y="2029968"/>
            <a:ext cx="3871826" cy="237744"/>
          </a:xfrm>
          <a:prstGeom prst="roundRect">
            <a:avLst>
              <a:gd name="adj" fmla="val 23077"/>
            </a:avLst>
          </a:prstGeom>
          <a:solidFill>
            <a:srgbClr val="EEF2F9"/>
          </a:solidFill>
          <a:ln/>
        </p:spPr>
      </p:sp>
      <p:sp>
        <p:nvSpPr>
          <p:cNvPr id="14" name="Shape 11"/>
          <p:cNvSpPr/>
          <p:nvPr/>
        </p:nvSpPr>
        <p:spPr>
          <a:xfrm>
            <a:off x="7634655" y="2148840"/>
            <a:ext cx="3871826" cy="118872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15" name="Shape 12"/>
          <p:cNvSpPr/>
          <p:nvPr/>
        </p:nvSpPr>
        <p:spPr>
          <a:xfrm>
            <a:off x="7762671" y="2107692"/>
            <a:ext cx="82296" cy="82296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6" name="Shape 13"/>
          <p:cNvSpPr/>
          <p:nvPr/>
        </p:nvSpPr>
        <p:spPr>
          <a:xfrm>
            <a:off x="7927263" y="2107692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7" name="Shape 14"/>
          <p:cNvSpPr/>
          <p:nvPr/>
        </p:nvSpPr>
        <p:spPr>
          <a:xfrm>
            <a:off x="8091855" y="2107692"/>
            <a:ext cx="82296" cy="82296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18" name="Image 1" descr="images-cropped/img-jenkins-admin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0959" y="2359152"/>
            <a:ext cx="3579218" cy="359359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KUBERNETES IMPLEMENTATION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OF 13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Minikube &amp; enable metrics-server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up the local Kubernetes cluster and enable the metrics-server addon, which is required later for autoscaling (HPA) and for inspecting live resource usage.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50188" y="2167128"/>
            <a:ext cx="7091320" cy="3941064"/>
          </a:xfrm>
          <a:prstGeom prst="roundRect">
            <a:avLst>
              <a:gd name="adj" fmla="val 1392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38100" dir="5400000">
              <a:srgbClr val="0A0F1C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50188" y="2167128"/>
            <a:ext cx="7091320" cy="237744"/>
          </a:xfrm>
          <a:prstGeom prst="roundRect">
            <a:avLst>
              <a:gd name="adj" fmla="val 23077"/>
            </a:avLst>
          </a:prstGeom>
          <a:solidFill>
            <a:srgbClr val="EEF2F9"/>
          </a:solidFill>
          <a:ln/>
        </p:spPr>
      </p:sp>
      <p:sp>
        <p:nvSpPr>
          <p:cNvPr id="7" name="Shape 5"/>
          <p:cNvSpPr/>
          <p:nvPr/>
        </p:nvSpPr>
        <p:spPr>
          <a:xfrm>
            <a:off x="2550188" y="2286000"/>
            <a:ext cx="7091320" cy="118872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8" name="Shape 6"/>
          <p:cNvSpPr/>
          <p:nvPr/>
        </p:nvSpPr>
        <p:spPr>
          <a:xfrm>
            <a:off x="2678204" y="2244852"/>
            <a:ext cx="82296" cy="82296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9" name="Shape 7"/>
          <p:cNvSpPr/>
          <p:nvPr/>
        </p:nvSpPr>
        <p:spPr>
          <a:xfrm>
            <a:off x="2842796" y="2244852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0" name="Shape 8"/>
          <p:cNvSpPr/>
          <p:nvPr/>
        </p:nvSpPr>
        <p:spPr>
          <a:xfrm>
            <a:off x="3007388" y="2244852"/>
            <a:ext cx="82296" cy="82296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11" name="Image 0" descr="images-cropped/img-minikube-st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6492" y="2496312"/>
            <a:ext cx="6798712" cy="350215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KUBERNETES IMPLEMENTATION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 OF 13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Jenkins to kubectl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kubeconfig into Jenkins' home directory and fix ownership, so the Jenkins user can run kubectl commands against the Minikube cluster during deployment.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432408" y="2582198"/>
            <a:ext cx="9326880" cy="3110924"/>
          </a:xfrm>
          <a:prstGeom prst="roundRect">
            <a:avLst>
              <a:gd name="adj" fmla="val 1764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38100" dir="5400000">
              <a:srgbClr val="0A0F1C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32408" y="2582198"/>
            <a:ext cx="9326880" cy="237744"/>
          </a:xfrm>
          <a:prstGeom prst="roundRect">
            <a:avLst>
              <a:gd name="adj" fmla="val 23077"/>
            </a:avLst>
          </a:prstGeom>
          <a:solidFill>
            <a:srgbClr val="EEF2F9"/>
          </a:solidFill>
          <a:ln/>
        </p:spPr>
      </p:sp>
      <p:sp>
        <p:nvSpPr>
          <p:cNvPr id="7" name="Shape 5"/>
          <p:cNvSpPr/>
          <p:nvPr/>
        </p:nvSpPr>
        <p:spPr>
          <a:xfrm>
            <a:off x="1432408" y="2701070"/>
            <a:ext cx="9326880" cy="118872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8" name="Shape 6"/>
          <p:cNvSpPr/>
          <p:nvPr/>
        </p:nvSpPr>
        <p:spPr>
          <a:xfrm>
            <a:off x="1560424" y="2659922"/>
            <a:ext cx="82296" cy="82296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9" name="Shape 7"/>
          <p:cNvSpPr/>
          <p:nvPr/>
        </p:nvSpPr>
        <p:spPr>
          <a:xfrm>
            <a:off x="1725016" y="2659922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0" name="Shape 8"/>
          <p:cNvSpPr/>
          <p:nvPr/>
        </p:nvSpPr>
        <p:spPr>
          <a:xfrm>
            <a:off x="1889608" y="2659922"/>
            <a:ext cx="82296" cy="82296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11" name="Image 0" descr="images-cropped/img-kubectl-ac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8712" y="2911382"/>
            <a:ext cx="9034272" cy="26720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KUBERNETES IMPLEMENTATION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 OF 13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Kubernetes YAML manifests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Jenkins workspace, a k8s/ directory holds the three manifests that define how the app runs on the cluster.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3484778" cy="1417320"/>
          </a:xfrm>
          <a:prstGeom prst="roundRect">
            <a:avLst>
              <a:gd name="adj" fmla="val 5161"/>
            </a:avLst>
          </a:prstGeom>
          <a:solidFill>
            <a:srgbClr val="0A0F1C"/>
          </a:solidFill>
          <a:ln w="12700">
            <a:solidFill>
              <a:srgbClr val="2631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194560"/>
            <a:ext cx="438912" cy="438912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7" name="Image 0" descr="icons/file-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275" y="2293315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9304" y="2148840"/>
            <a:ext cx="25703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deployment.yaml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2715768"/>
            <a:ext cx="30275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spec, replicas, image, rolling update strategy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53458" y="1965960"/>
            <a:ext cx="3484778" cy="1417320"/>
          </a:xfrm>
          <a:prstGeom prst="roundRect">
            <a:avLst>
              <a:gd name="adj" fmla="val 5161"/>
            </a:avLst>
          </a:prstGeom>
          <a:solidFill>
            <a:srgbClr val="0A0F1C"/>
          </a:solidFill>
          <a:ln w="12700">
            <a:solidFill>
              <a:srgbClr val="2631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82058" y="2194560"/>
            <a:ext cx="438912" cy="438912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12" name="Image 1" descr="icons/netwo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814" y="2293315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39842" y="2148840"/>
            <a:ext cx="25703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service.yaml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82058" y="2715768"/>
            <a:ext cx="30275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network endpoint exposing the app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8203997" y="1965960"/>
            <a:ext cx="3484778" cy="1417320"/>
          </a:xfrm>
          <a:prstGeom prst="roundRect">
            <a:avLst>
              <a:gd name="adj" fmla="val 5161"/>
            </a:avLst>
          </a:prstGeom>
          <a:solidFill>
            <a:srgbClr val="0A0F1C"/>
          </a:solidFill>
          <a:ln w="12700">
            <a:solidFill>
              <a:srgbClr val="2631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32597" y="2194560"/>
            <a:ext cx="438912" cy="438912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17" name="Image 2" descr="icons/chart-l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2293315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90381" y="2148840"/>
            <a:ext cx="25703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hpa.yaml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432597" y="2715768"/>
            <a:ext cx="30275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Pod Autoscaler thresholds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1981048" y="3798902"/>
            <a:ext cx="8229600" cy="2414875"/>
          </a:xfrm>
          <a:prstGeom prst="roundRect">
            <a:avLst>
              <a:gd name="adj" fmla="val 2272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38100" dir="5400000">
              <a:srgbClr val="0A0F1C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981048" y="3798902"/>
            <a:ext cx="8229600" cy="237744"/>
          </a:xfrm>
          <a:prstGeom prst="roundRect">
            <a:avLst>
              <a:gd name="adj" fmla="val 23077"/>
            </a:avLst>
          </a:prstGeom>
          <a:solidFill>
            <a:srgbClr val="EEF2F9"/>
          </a:solidFill>
          <a:ln/>
        </p:spPr>
      </p:sp>
      <p:sp>
        <p:nvSpPr>
          <p:cNvPr id="22" name="Shape 17"/>
          <p:cNvSpPr/>
          <p:nvPr/>
        </p:nvSpPr>
        <p:spPr>
          <a:xfrm>
            <a:off x="1981048" y="3917774"/>
            <a:ext cx="8229600" cy="118872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23" name="Shape 18"/>
          <p:cNvSpPr/>
          <p:nvPr/>
        </p:nvSpPr>
        <p:spPr>
          <a:xfrm>
            <a:off x="2109064" y="3876626"/>
            <a:ext cx="82296" cy="82296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24" name="Shape 19"/>
          <p:cNvSpPr/>
          <p:nvPr/>
        </p:nvSpPr>
        <p:spPr>
          <a:xfrm>
            <a:off x="2273656" y="3876626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5" name="Shape 20"/>
          <p:cNvSpPr/>
          <p:nvPr/>
        </p:nvSpPr>
        <p:spPr>
          <a:xfrm>
            <a:off x="2438248" y="3876626"/>
            <a:ext cx="82296" cy="82296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26" name="Image 3" descr="images-cropped/img-yaml-fil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7352" y="4128086"/>
            <a:ext cx="7936992" cy="1975963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KUBERNETES IMPLEMENTATION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 OF 13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Docker Hub credentials to Jenkins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the Docker Hub username and access token as a Jenkins credential so the pipeline can authenticate and push images without hardcoding secrets in the Jenkinsfile.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432408" y="2467445"/>
            <a:ext cx="9326880" cy="3340430"/>
          </a:xfrm>
          <a:prstGeom prst="roundRect">
            <a:avLst>
              <a:gd name="adj" fmla="val 1642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38100" dir="5400000">
              <a:srgbClr val="0A0F1C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32408" y="2467445"/>
            <a:ext cx="9326880" cy="237744"/>
          </a:xfrm>
          <a:prstGeom prst="roundRect">
            <a:avLst>
              <a:gd name="adj" fmla="val 23077"/>
            </a:avLst>
          </a:prstGeom>
          <a:solidFill>
            <a:srgbClr val="EEF2F9"/>
          </a:solidFill>
          <a:ln/>
        </p:spPr>
      </p:sp>
      <p:sp>
        <p:nvSpPr>
          <p:cNvPr id="7" name="Shape 5"/>
          <p:cNvSpPr/>
          <p:nvPr/>
        </p:nvSpPr>
        <p:spPr>
          <a:xfrm>
            <a:off x="1432408" y="2586317"/>
            <a:ext cx="9326880" cy="118872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8" name="Shape 6"/>
          <p:cNvSpPr/>
          <p:nvPr/>
        </p:nvSpPr>
        <p:spPr>
          <a:xfrm>
            <a:off x="1560424" y="2545169"/>
            <a:ext cx="82296" cy="82296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9" name="Shape 7"/>
          <p:cNvSpPr/>
          <p:nvPr/>
        </p:nvSpPr>
        <p:spPr>
          <a:xfrm>
            <a:off x="1725016" y="2545169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0" name="Shape 8"/>
          <p:cNvSpPr/>
          <p:nvPr/>
        </p:nvSpPr>
        <p:spPr>
          <a:xfrm>
            <a:off x="1889608" y="2545169"/>
            <a:ext cx="82296" cy="82296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11" name="Image 0" descr="images-cropped/img-docker-cre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8712" y="2796629"/>
            <a:ext cx="9034272" cy="290151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KUBERNETES IMPLEMENTATION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11 OF 13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Jenkins pipeline job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29184" cy="329184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17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137160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Item → Pipeline, and give it a name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329184" cy="329184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182880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the trigger and write the Groovy script in the pipeline definition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331720"/>
            <a:ext cx="329184" cy="329184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331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228600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configuration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303668"/>
            <a:ext cx="5394960" cy="2582384"/>
          </a:xfrm>
          <a:prstGeom prst="roundRect">
            <a:avLst>
              <a:gd name="adj" fmla="val 2125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38100" dir="5400000">
              <a:srgbClr val="0A0F1C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3303668"/>
            <a:ext cx="5394960" cy="237744"/>
          </a:xfrm>
          <a:prstGeom prst="roundRect">
            <a:avLst>
              <a:gd name="adj" fmla="val 23077"/>
            </a:avLst>
          </a:prstGeom>
          <a:solidFill>
            <a:srgbClr val="EEF2F9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3422540"/>
            <a:ext cx="5394960" cy="118872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16" name="Shape 14"/>
          <p:cNvSpPr/>
          <p:nvPr/>
        </p:nvSpPr>
        <p:spPr>
          <a:xfrm>
            <a:off x="630936" y="3381392"/>
            <a:ext cx="82296" cy="82296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7" name="Shape 15"/>
          <p:cNvSpPr/>
          <p:nvPr/>
        </p:nvSpPr>
        <p:spPr>
          <a:xfrm>
            <a:off x="795528" y="3381392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8" name="Shape 16"/>
          <p:cNvSpPr/>
          <p:nvPr/>
        </p:nvSpPr>
        <p:spPr>
          <a:xfrm>
            <a:off x="960120" y="3381392"/>
            <a:ext cx="82296" cy="82296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19" name="Image 0" descr="images-cropped/img-pipeline-confi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3632852"/>
            <a:ext cx="5102352" cy="2143472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6155497" y="3035808"/>
            <a:ext cx="5504261" cy="3118104"/>
          </a:xfrm>
          <a:prstGeom prst="roundRect">
            <a:avLst>
              <a:gd name="adj" fmla="val 1760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38100" dir="5400000">
              <a:srgbClr val="0A0F1C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155497" y="3035808"/>
            <a:ext cx="5504261" cy="237744"/>
          </a:xfrm>
          <a:prstGeom prst="roundRect">
            <a:avLst>
              <a:gd name="adj" fmla="val 23077"/>
            </a:avLst>
          </a:prstGeom>
          <a:solidFill>
            <a:srgbClr val="EEF2F9"/>
          </a:solidFill>
          <a:ln/>
        </p:spPr>
      </p:sp>
      <p:sp>
        <p:nvSpPr>
          <p:cNvPr id="22" name="Shape 19"/>
          <p:cNvSpPr/>
          <p:nvPr/>
        </p:nvSpPr>
        <p:spPr>
          <a:xfrm>
            <a:off x="6155497" y="3154680"/>
            <a:ext cx="5504261" cy="118872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23" name="Shape 20"/>
          <p:cNvSpPr/>
          <p:nvPr/>
        </p:nvSpPr>
        <p:spPr>
          <a:xfrm>
            <a:off x="6283513" y="3113532"/>
            <a:ext cx="82296" cy="82296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24" name="Shape 21"/>
          <p:cNvSpPr/>
          <p:nvPr/>
        </p:nvSpPr>
        <p:spPr>
          <a:xfrm>
            <a:off x="6448105" y="3113532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5" name="Shape 22"/>
          <p:cNvSpPr/>
          <p:nvPr/>
        </p:nvSpPr>
        <p:spPr>
          <a:xfrm>
            <a:off x="6612697" y="3113532"/>
            <a:ext cx="82296" cy="82296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26" name="Image 1" descr="images-cropped/img-pipeline-config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1801" y="3364992"/>
            <a:ext cx="5211653" cy="267919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KUBERNETES IMPLEMENTATION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12 OF 13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first build manually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the pipeline by clicking Build Now. Watching the first run end-to-end confirms every stage — clone, build, push, deploy — is wired correctly before trusting automatic triggers.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650365" y="2167128"/>
            <a:ext cx="6890965" cy="3941064"/>
          </a:xfrm>
          <a:prstGeom prst="roundRect">
            <a:avLst>
              <a:gd name="adj" fmla="val 1392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38100" dir="5400000">
              <a:srgbClr val="0A0F1C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650365" y="2167128"/>
            <a:ext cx="6890965" cy="237744"/>
          </a:xfrm>
          <a:prstGeom prst="roundRect">
            <a:avLst>
              <a:gd name="adj" fmla="val 23077"/>
            </a:avLst>
          </a:prstGeom>
          <a:solidFill>
            <a:srgbClr val="EEF2F9"/>
          </a:solidFill>
          <a:ln/>
        </p:spPr>
      </p:sp>
      <p:sp>
        <p:nvSpPr>
          <p:cNvPr id="7" name="Shape 5"/>
          <p:cNvSpPr/>
          <p:nvPr/>
        </p:nvSpPr>
        <p:spPr>
          <a:xfrm>
            <a:off x="2650365" y="2286000"/>
            <a:ext cx="6890965" cy="118872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8" name="Shape 6"/>
          <p:cNvSpPr/>
          <p:nvPr/>
        </p:nvSpPr>
        <p:spPr>
          <a:xfrm>
            <a:off x="2778381" y="2244852"/>
            <a:ext cx="82296" cy="82296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9" name="Shape 7"/>
          <p:cNvSpPr/>
          <p:nvPr/>
        </p:nvSpPr>
        <p:spPr>
          <a:xfrm>
            <a:off x="2942973" y="2244852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0" name="Shape 8"/>
          <p:cNvSpPr/>
          <p:nvPr/>
        </p:nvSpPr>
        <p:spPr>
          <a:xfrm>
            <a:off x="3107565" y="2244852"/>
            <a:ext cx="82296" cy="82296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11" name="Image 0" descr="images-cropped/img-build-man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6669" y="2496312"/>
            <a:ext cx="6598357" cy="350215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KUBERNETES IMPLEMENTATION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13 OF 13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pods, service &amp; expose the app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pipeline completes, confirm the pods are Running and the service has a reachable endpoint, then launch 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989688"/>
            <a:ext cx="5486400" cy="2101384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38100" dir="5400000">
              <a:srgbClr val="0A0F1C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989688"/>
            <a:ext cx="5486400" cy="237744"/>
          </a:xfrm>
          <a:prstGeom prst="roundRect">
            <a:avLst>
              <a:gd name="adj" fmla="val 23077"/>
            </a:avLst>
          </a:prstGeom>
          <a:solidFill>
            <a:srgbClr val="EEF2F9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2108560"/>
            <a:ext cx="5486400" cy="118872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8" name="Shape 6"/>
          <p:cNvSpPr/>
          <p:nvPr/>
        </p:nvSpPr>
        <p:spPr>
          <a:xfrm>
            <a:off x="630936" y="2067412"/>
            <a:ext cx="82296" cy="82296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9" name="Shape 7"/>
          <p:cNvSpPr/>
          <p:nvPr/>
        </p:nvSpPr>
        <p:spPr>
          <a:xfrm>
            <a:off x="795528" y="2067412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0" name="Shape 8"/>
          <p:cNvSpPr/>
          <p:nvPr/>
        </p:nvSpPr>
        <p:spPr>
          <a:xfrm>
            <a:off x="960120" y="2067412"/>
            <a:ext cx="82296" cy="8229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989688"/>
            <a:ext cx="530352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pods / svc</a:t>
            </a:r>
            <a:endParaRPr lang="en-US" sz="900" dirty="0"/>
          </a:p>
        </p:txBody>
      </p:sp>
      <p:pic>
        <p:nvPicPr>
          <p:cNvPr id="12" name="Image 0" descr="images-cropped/img-pods-status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318872"/>
            <a:ext cx="5193792" cy="1662472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048605" y="1892808"/>
            <a:ext cx="3809485" cy="2295144"/>
          </a:xfrm>
          <a:prstGeom prst="roundRect">
            <a:avLst>
              <a:gd name="adj" fmla="val 2390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38100" dir="5400000">
              <a:srgbClr val="0A0F1C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048605" y="1892808"/>
            <a:ext cx="3809485" cy="237744"/>
          </a:xfrm>
          <a:prstGeom prst="roundRect">
            <a:avLst>
              <a:gd name="adj" fmla="val 23077"/>
            </a:avLst>
          </a:prstGeom>
          <a:solidFill>
            <a:srgbClr val="EEF2F9"/>
          </a:solidFill>
          <a:ln/>
        </p:spPr>
      </p:sp>
      <p:sp>
        <p:nvSpPr>
          <p:cNvPr id="15" name="Shape 12"/>
          <p:cNvSpPr/>
          <p:nvPr/>
        </p:nvSpPr>
        <p:spPr>
          <a:xfrm>
            <a:off x="7048605" y="2011680"/>
            <a:ext cx="3809485" cy="118872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16" name="Shape 13"/>
          <p:cNvSpPr/>
          <p:nvPr/>
        </p:nvSpPr>
        <p:spPr>
          <a:xfrm>
            <a:off x="7176621" y="1970532"/>
            <a:ext cx="82296" cy="82296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7" name="Shape 14"/>
          <p:cNvSpPr/>
          <p:nvPr/>
        </p:nvSpPr>
        <p:spPr>
          <a:xfrm>
            <a:off x="7341213" y="1970532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8" name="Shape 15"/>
          <p:cNvSpPr/>
          <p:nvPr/>
        </p:nvSpPr>
        <p:spPr>
          <a:xfrm>
            <a:off x="7505805" y="1970532"/>
            <a:ext cx="82296" cy="8229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9" name="Text 16"/>
          <p:cNvSpPr/>
          <p:nvPr/>
        </p:nvSpPr>
        <p:spPr>
          <a:xfrm>
            <a:off x="7048605" y="1892808"/>
            <a:ext cx="3626605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minikube service</a:t>
            </a:r>
            <a:endParaRPr lang="en-US" sz="900" dirty="0"/>
          </a:p>
        </p:txBody>
      </p:sp>
      <p:pic>
        <p:nvPicPr>
          <p:cNvPr id="20" name="Image 1" descr="images-cropped/img-launch-servic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4909" y="2221992"/>
            <a:ext cx="3516877" cy="1856232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502920" y="4526280"/>
            <a:ext cx="11185855" cy="1325880"/>
          </a:xfrm>
          <a:prstGeom prst="roundRect">
            <a:avLst>
              <a:gd name="adj" fmla="val 551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101600" dist="38100" dir="5400000">
              <a:srgbClr val="0A0F1C">
                <a:alpha val="1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777240" y="4754880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23" name="Image 2" descr="icons/check-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" y="4857750"/>
            <a:ext cx="251460" cy="2514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417320" y="4572000"/>
            <a:ext cx="999713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Running, service reachable.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node-service exposes the app on a NodePort — opening the printed URL confirms the deployment is live end to end.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KUBERNETES IMPLEMENTATION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pipeline delivers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3484778" cy="1874520"/>
          </a:xfrm>
          <a:prstGeom prst="roundRect">
            <a:avLst>
              <a:gd name="adj" fmla="val 3902"/>
            </a:avLst>
          </a:prstGeom>
          <a:solidFill>
            <a:srgbClr val="131B2E"/>
          </a:solidFill>
          <a:ln w="12700">
            <a:solidFill>
              <a:srgbClr val="2631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01952"/>
            <a:ext cx="475488" cy="475488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6" name="Image 0" descr="icons/syn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357" y="2016069"/>
            <a:ext cx="247254" cy="2472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523744"/>
            <a:ext cx="2936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Deployment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852928"/>
            <a:ext cx="29361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build or deploy steps — a push is all it takes.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53458" y="1645920"/>
            <a:ext cx="3484778" cy="1874520"/>
          </a:xfrm>
          <a:prstGeom prst="roundRect">
            <a:avLst>
              <a:gd name="adj" fmla="val 3902"/>
            </a:avLst>
          </a:prstGeom>
          <a:solidFill>
            <a:srgbClr val="131B2E"/>
          </a:solidFill>
          <a:ln w="12700">
            <a:solidFill>
              <a:srgbClr val="2631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27778" y="1901952"/>
            <a:ext cx="475488" cy="475488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11" name="Image 1" descr="icons/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1896" y="2016069"/>
            <a:ext cx="247254" cy="24725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27778" y="2523744"/>
            <a:ext cx="2936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Release Cycle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627778" y="2852928"/>
            <a:ext cx="29361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from commit to running pods instead of hours.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203997" y="1645920"/>
            <a:ext cx="3484778" cy="1874520"/>
          </a:xfrm>
          <a:prstGeom prst="roundRect">
            <a:avLst>
              <a:gd name="adj" fmla="val 3902"/>
            </a:avLst>
          </a:prstGeom>
          <a:solidFill>
            <a:srgbClr val="131B2E"/>
          </a:solidFill>
          <a:ln w="12700">
            <a:solidFill>
              <a:srgbClr val="2631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78317" y="1901952"/>
            <a:ext cx="475488" cy="475488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16" name="Image 2" descr="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2434" y="2016069"/>
            <a:ext cx="247254" cy="24725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78317" y="2523744"/>
            <a:ext cx="2936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Downtime Updates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478317" y="2852928"/>
            <a:ext cx="29361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updates replace pods gradually with no outage.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02920" y="3840480"/>
            <a:ext cx="3484778" cy="1874520"/>
          </a:xfrm>
          <a:prstGeom prst="roundRect">
            <a:avLst>
              <a:gd name="adj" fmla="val 3902"/>
            </a:avLst>
          </a:prstGeom>
          <a:solidFill>
            <a:srgbClr val="131B2E"/>
          </a:solidFill>
          <a:ln w="12700">
            <a:solidFill>
              <a:srgbClr val="2631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096512"/>
            <a:ext cx="475488" cy="475488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21" name="Image 3" descr="icons/code-bran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357" y="4210629"/>
            <a:ext cx="247254" cy="24725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718304"/>
            <a:ext cx="2936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77240" y="5047488"/>
            <a:ext cx="29361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image is tagged and traceable to a build number.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53458" y="3840480"/>
            <a:ext cx="3484778" cy="1874520"/>
          </a:xfrm>
          <a:prstGeom prst="roundRect">
            <a:avLst>
              <a:gd name="adj" fmla="val 3902"/>
            </a:avLst>
          </a:prstGeom>
          <a:solidFill>
            <a:srgbClr val="131B2E"/>
          </a:solidFill>
          <a:ln w="12700">
            <a:solidFill>
              <a:srgbClr val="2631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27778" y="4096512"/>
            <a:ext cx="475488" cy="475488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26" name="Image 4" descr="icons/chart-lin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1896" y="4210629"/>
            <a:ext cx="247254" cy="24725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27778" y="4718304"/>
            <a:ext cx="2936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627778" y="5047488"/>
            <a:ext cx="29361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and replica counts scale the app under load.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203997" y="3840480"/>
            <a:ext cx="3484778" cy="1874520"/>
          </a:xfrm>
          <a:prstGeom prst="roundRect">
            <a:avLst>
              <a:gd name="adj" fmla="val 3902"/>
            </a:avLst>
          </a:prstGeom>
          <a:solidFill>
            <a:srgbClr val="131B2E"/>
          </a:solidFill>
          <a:ln w="12700">
            <a:solidFill>
              <a:srgbClr val="2631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78317" y="4096512"/>
            <a:ext cx="475488" cy="475488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31" name="Image 5" descr="icons/laptop-cod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2434" y="4210629"/>
            <a:ext cx="247254" cy="24725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78317" y="4718304"/>
            <a:ext cx="2936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Production-Like Workflow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478317" y="5047488"/>
            <a:ext cx="29361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real DevOps practice end-to-end, not just theory.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OPTIMIZATION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68096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challenges &amp; fixes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185855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38100" dir="5400000">
              <a:srgbClr val="0A0F1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78508"/>
            <a:ext cx="438912" cy="438912"/>
          </a:xfrm>
          <a:prstGeom prst="ellipse">
            <a:avLst/>
          </a:prstGeom>
          <a:solidFill>
            <a:srgbClr val="FBBF24"/>
          </a:solidFill>
          <a:ln/>
        </p:spPr>
      </p:sp>
      <p:pic>
        <p:nvPicPr>
          <p:cNvPr id="6" name="Image 0" descr="icons/hourgl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275" y="1877263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91640"/>
            <a:ext cx="52120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deployment took 7–11 minutes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675120" y="1924812"/>
            <a:ext cx="320040" cy="146304"/>
          </a:xfrm>
          <a:prstGeom prst="rightArrow">
            <a:avLst/>
          </a:prstGeom>
          <a:solidFill>
            <a:srgbClr val="DCE3EE"/>
          </a:solidFill>
          <a:ln/>
        </p:spPr>
      </p:sp>
      <p:sp>
        <p:nvSpPr>
          <p:cNvPr id="9" name="Text 6"/>
          <p:cNvSpPr/>
          <p:nvPr/>
        </p:nvSpPr>
        <p:spPr>
          <a:xfrm>
            <a:off x="7132320" y="1691640"/>
            <a:ext cx="432785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large image size and resource limits as root causes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2920" y="2560320"/>
            <a:ext cx="11185855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38100" dir="5400000">
              <a:srgbClr val="0A0F1C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1520" y="2738628"/>
            <a:ext cx="438912" cy="438912"/>
          </a:xfrm>
          <a:prstGeom prst="ellipse">
            <a:avLst/>
          </a:prstGeom>
          <a:solidFill>
            <a:srgbClr val="FBBF24"/>
          </a:solidFill>
          <a:ln/>
        </p:spPr>
      </p:sp>
      <p:pic>
        <p:nvPicPr>
          <p:cNvPr id="12" name="Image 1" descr="icons/box-op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275" y="2837383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71600" y="2651760"/>
            <a:ext cx="52120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Docker image size (over 1GB)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675120" y="2884932"/>
            <a:ext cx="320040" cy="146304"/>
          </a:xfrm>
          <a:prstGeom prst="rightArrow">
            <a:avLst/>
          </a:prstGeom>
          <a:solidFill>
            <a:srgbClr val="DCE3EE"/>
          </a:solidFill>
          <a:ln/>
        </p:spPr>
      </p:sp>
      <p:sp>
        <p:nvSpPr>
          <p:cNvPr id="15" name="Text 11"/>
          <p:cNvSpPr/>
          <p:nvPr/>
        </p:nvSpPr>
        <p:spPr>
          <a:xfrm>
            <a:off x="7132320" y="2651760"/>
            <a:ext cx="432785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Trimmed build context and base image layers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02920" y="3520440"/>
            <a:ext cx="11185855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38100" dir="5400000">
              <a:srgbClr val="0A0F1C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1520" y="3698748"/>
            <a:ext cx="438912" cy="438912"/>
          </a:xfrm>
          <a:prstGeom prst="ellipse">
            <a:avLst/>
          </a:prstGeom>
          <a:solidFill>
            <a:srgbClr val="FBBF24"/>
          </a:solidFill>
          <a:ln/>
        </p:spPr>
      </p:sp>
      <p:pic>
        <p:nvPicPr>
          <p:cNvPr id="18" name="Image 2" descr="icons/microchi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" y="3797503"/>
            <a:ext cx="241402" cy="24140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3611880"/>
            <a:ext cx="52120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CPU allocation slowed pod startup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675120" y="3845052"/>
            <a:ext cx="320040" cy="146304"/>
          </a:xfrm>
          <a:prstGeom prst="rightArrow">
            <a:avLst/>
          </a:prstGeom>
          <a:solidFill>
            <a:srgbClr val="DCE3EE"/>
          </a:solidFill>
          <a:ln/>
        </p:spPr>
      </p:sp>
      <p:sp>
        <p:nvSpPr>
          <p:cNvPr id="21" name="Text 16"/>
          <p:cNvSpPr/>
          <p:nvPr/>
        </p:nvSpPr>
        <p:spPr>
          <a:xfrm>
            <a:off x="7132320" y="3611880"/>
            <a:ext cx="432785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resource requests/limits for faster scheduling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02920" y="4480560"/>
            <a:ext cx="11185855" cy="795528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38100" dir="5400000">
              <a:srgbClr val="0A0F1C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31520" y="4658868"/>
            <a:ext cx="438912" cy="438912"/>
          </a:xfrm>
          <a:prstGeom prst="ellipse">
            <a:avLst/>
          </a:prstGeom>
          <a:solidFill>
            <a:srgbClr val="FBBF24"/>
          </a:solidFill>
          <a:ln/>
        </p:spPr>
      </p:sp>
      <p:pic>
        <p:nvPicPr>
          <p:cNvPr id="24" name="Image 3" descr="icons/warn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" y="4757623"/>
            <a:ext cx="241402" cy="24140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71600" y="4572000"/>
            <a:ext cx="52120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pods stayed up until new pods were fully ready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6675120" y="4805172"/>
            <a:ext cx="320040" cy="146304"/>
          </a:xfrm>
          <a:prstGeom prst="rightArrow">
            <a:avLst/>
          </a:prstGeom>
          <a:solidFill>
            <a:srgbClr val="DCE3EE"/>
          </a:solidFill>
          <a:ln/>
        </p:spPr>
      </p:sp>
      <p:sp>
        <p:nvSpPr>
          <p:cNvPr id="27" name="Text 21"/>
          <p:cNvSpPr/>
          <p:nvPr/>
        </p:nvSpPr>
        <p:spPr>
          <a:xfrm>
            <a:off x="7132320" y="4572000"/>
            <a:ext cx="432785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rolling update maxSurge / maxUnavailable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OPTIMIZATION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OPTIMIZATION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68096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lessons learned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38718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38100" dir="5400000">
              <a:srgbClr val="0A0F1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74520"/>
            <a:ext cx="457200" cy="457200"/>
          </a:xfrm>
          <a:prstGeom prst="ellipse">
            <a:avLst/>
          </a:prstGeom>
          <a:solidFill>
            <a:srgbClr val="A78BFA"/>
          </a:solidFill>
          <a:ln/>
        </p:spPr>
      </p:sp>
      <p:pic>
        <p:nvPicPr>
          <p:cNvPr id="6" name="Image 0" descr="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1977390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99032" y="1847088"/>
            <a:ext cx="42441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the right image version deploys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468880"/>
            <a:ext cx="48385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build had to be traced to a specific tag to be certain Kubernetes pulled the version that was just built, not a stale cached one.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01588" y="1600200"/>
            <a:ext cx="538718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38100" dir="5400000">
              <a:srgbClr val="0A0F1C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75908" y="1874520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11" name="Image 1" descr="icons/termin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8778" y="197739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97700" y="1847088"/>
            <a:ext cx="42441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pod &amp; rollout status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575908" y="2468880"/>
            <a:ext cx="48385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pod status, rollout status, and ReplicaSets was essential groundwork before troubleshooting could even begin.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2920" y="3794760"/>
            <a:ext cx="538718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38100" dir="5400000">
              <a:srgbClr val="0A0F1C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4069080"/>
            <a:ext cx="457200" cy="457200"/>
          </a:xfrm>
          <a:prstGeom prst="ellipse">
            <a:avLst/>
          </a:prstGeom>
          <a:solidFill>
            <a:srgbClr val="FBBF24"/>
          </a:solidFill>
          <a:ln/>
        </p:spPr>
      </p:sp>
      <p:pic>
        <p:nvPicPr>
          <p:cNvPr id="16" name="Image 2" descr="icons/w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" y="417195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99032" y="4041648"/>
            <a:ext cx="42441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timeout on Minikube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777240" y="4663440"/>
            <a:ext cx="48385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replicas exhausted Minikube's CPU and caused CrashLoopBackOff during rollback — fixed by reducing to 2 replicas and raising the timeout to 300s.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301588" y="3794760"/>
            <a:ext cx="538718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01600" dist="38100" dir="5400000">
              <a:srgbClr val="0A0F1C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75908" y="4069080"/>
            <a:ext cx="457200" cy="457200"/>
          </a:xfrm>
          <a:prstGeom prst="ellipse">
            <a:avLst/>
          </a:prstGeom>
          <a:solidFill>
            <a:srgbClr val="FB7185"/>
          </a:solidFill>
          <a:ln/>
        </p:spPr>
      </p:sp>
      <p:pic>
        <p:nvPicPr>
          <p:cNvPr id="21" name="Image 3" descr="icons/times-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8778" y="417195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97700" y="4041648"/>
            <a:ext cx="42441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errors don't trigger rollback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575908" y="4663440"/>
            <a:ext cx="48385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thrown React error (throw new Error) doesn't crash the container, so it never triggers a Kubernetes rollback — only server-side process crashes do.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OPTIMIZATION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ROLLBACK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Failing safe, automatically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5364328" cy="4572000"/>
          </a:xfrm>
          <a:prstGeom prst="roundRect">
            <a:avLst>
              <a:gd name="adj" fmla="val 1600"/>
            </a:avLst>
          </a:prstGeom>
          <a:solidFill>
            <a:srgbClr val="131B2E"/>
          </a:solidFill>
          <a:ln w="12700">
            <a:solidFill>
              <a:srgbClr val="2631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4724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ROLLBACK WORKS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2240280"/>
            <a:ext cx="347472" cy="34747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40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2185416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the current revision BEFORE deploying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834640"/>
            <a:ext cx="347472" cy="34747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834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2779776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new image to Kubernetes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429000"/>
            <a:ext cx="347472" cy="34747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429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3374136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rollout, with a 300-second timeout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4023360"/>
            <a:ext cx="347472" cy="34747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023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3968496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timeout or failure: kubectl rollout undo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4617720"/>
            <a:ext cx="347472" cy="34747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617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80160" y="4562856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rollback itself succeeded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" y="5212080"/>
            <a:ext cx="347472" cy="34747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212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80160" y="5157216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is marked FAILURE, with rollback details logged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24448" y="1554480"/>
            <a:ext cx="5364328" cy="4572000"/>
          </a:xfrm>
          <a:prstGeom prst="roundRect">
            <a:avLst>
              <a:gd name="adj" fmla="val 1600"/>
            </a:avLst>
          </a:prstGeom>
          <a:solidFill>
            <a:srgbClr val="131B2E"/>
          </a:solidFill>
          <a:ln w="12700">
            <a:solidFill>
              <a:srgbClr val="2631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644488" y="1783080"/>
            <a:ext cx="4724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GUARDS BUILT IN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644488" y="2240280"/>
            <a:ext cx="365760" cy="36576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27" name="Image 0" descr="icons/plu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6784" y="2322576"/>
            <a:ext cx="201168" cy="201168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7119976" y="2185416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access verified before every deploy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644488" y="2834640"/>
            <a:ext cx="365760" cy="36576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30" name="Image 1" descr="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6784" y="2916936"/>
            <a:ext cx="201168" cy="201168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7119976" y="2779776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First-deploy guard (skips rollback when revision == 0)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6644488" y="3429000"/>
            <a:ext cx="365760" cy="36576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33" name="Image 2" descr="icons/check-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6784" y="3511296"/>
            <a:ext cx="201168" cy="201168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7119976" y="3374136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itself verified with a 300s wait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6644488" y="4023360"/>
            <a:ext cx="365760" cy="36576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36" name="Image 3" descr="icons/clipboard-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6784" y="4105656"/>
            <a:ext cx="201168" cy="201168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7119976" y="3968496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revisionHistoryLimit: 3 set in deployment.yaml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6644488" y="4617720"/>
            <a:ext cx="365760" cy="36576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39" name="Image 4" descr="icons/times-circ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6784" y="4700016"/>
            <a:ext cx="201168" cy="201168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7119976" y="4562856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concurrent builds — disableConcurrentBuilds()</a:t>
            </a:r>
            <a:endParaRPr lang="en-US" sz="1200" dirty="0"/>
          </a:p>
        </p:txBody>
      </p:sp>
      <p:sp>
        <p:nvSpPr>
          <p:cNvPr id="41" name="Shape 34"/>
          <p:cNvSpPr/>
          <p:nvPr/>
        </p:nvSpPr>
        <p:spPr>
          <a:xfrm>
            <a:off x="6644488" y="5212080"/>
            <a:ext cx="365760" cy="36576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42" name="Image 5" descr="icons/box-op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6784" y="5294376"/>
            <a:ext cx="201168" cy="201168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7119976" y="5157216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Docker image cleaned up after every run</a:t>
            </a:r>
            <a:endParaRPr lang="en-US" sz="1200" dirty="0"/>
          </a:p>
        </p:txBody>
      </p:sp>
      <p:sp>
        <p:nvSpPr>
          <p:cNvPr id="44" name="Text 36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ROLLBACK STRATEGY</a:t>
            </a:r>
            <a:endParaRPr lang="en-US" sz="900" dirty="0"/>
          </a:p>
        </p:txBody>
      </p:sp>
      <p:sp>
        <p:nvSpPr>
          <p:cNvPr id="45" name="Text 37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ROLLBACK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68096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rollback logic, in the Jenkinsfile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condensed view of the three-part rollback block: capture, wait, and undo on failure.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11185855" cy="4160520"/>
          </a:xfrm>
          <a:prstGeom prst="roundRect">
            <a:avLst>
              <a:gd name="adj" fmla="val 1319"/>
            </a:avLst>
          </a:prstGeom>
          <a:solidFill>
            <a:srgbClr val="1A2233"/>
          </a:solidFill>
          <a:ln/>
          <a:effectLst>
            <a:outerShdw sx="100000" sy="100000" kx="0" ky="0" algn="bl" rotWithShape="0" blurRad="177800" dist="63500" dir="5400000">
              <a:srgbClr val="0A0F1C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874520"/>
            <a:ext cx="11185855" cy="329184"/>
          </a:xfrm>
          <a:prstGeom prst="roundRect">
            <a:avLst>
              <a:gd name="adj" fmla="val 16667"/>
            </a:avLst>
          </a:prstGeom>
          <a:solidFill>
            <a:srgbClr val="0F1726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2039112"/>
            <a:ext cx="11185855" cy="164592"/>
          </a:xfrm>
          <a:prstGeom prst="rect">
            <a:avLst/>
          </a:prstGeom>
          <a:solidFill>
            <a:srgbClr val="0F1726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993392"/>
            <a:ext cx="100584" cy="100584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9" name="Shape 7"/>
          <p:cNvSpPr/>
          <p:nvPr/>
        </p:nvSpPr>
        <p:spPr>
          <a:xfrm>
            <a:off x="886968" y="1993392"/>
            <a:ext cx="100584" cy="10058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0" name="Shape 8"/>
          <p:cNvSpPr/>
          <p:nvPr/>
        </p:nvSpPr>
        <p:spPr>
          <a:xfrm>
            <a:off x="1088136" y="1993392"/>
            <a:ext cx="100584" cy="10058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874520"/>
            <a:ext cx="10957255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Jenkinsfile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2377440"/>
            <a:ext cx="10545775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C67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Capture revision BEFORE deploying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3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currentRevision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3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(script: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C4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"kubectl get deployment/node-app ..."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3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3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C67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Wait for rollout, with a timeout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3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rolloutStatus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3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(script: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C4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"kubectl rollout status ... --timeout=300s"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3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returnStatus: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3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3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C67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On failure: roll back automatically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3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(rolloutStatus !=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3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 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C4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"kubectl rollout undo deployment/node-app -n default"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C67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verify the rollback itself succeeded...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error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3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CC4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"Deployment FAILED. Rolled back to revision ${currentRevision}."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3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3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ROLLBACK STRATEGY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TESTING &amp; VERIFICATION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failure modes, three confirmed rollbacks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484778" cy="2331720"/>
          </a:xfrm>
          <a:prstGeom prst="roundRect">
            <a:avLst>
              <a:gd name="adj" fmla="val 3137"/>
            </a:avLst>
          </a:prstGeom>
          <a:solidFill>
            <a:srgbClr val="131B2E"/>
          </a:solidFill>
          <a:ln w="12700">
            <a:solidFill>
              <a:srgbClr val="2631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83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301898" y="1828800"/>
            <a:ext cx="411480" cy="411480"/>
          </a:xfrm>
          <a:prstGeom prst="ellipse">
            <a:avLst/>
          </a:prstGeom>
          <a:solidFill>
            <a:srgbClr val="FB7185"/>
          </a:solidFill>
          <a:ln/>
        </p:spPr>
      </p:sp>
      <p:pic>
        <p:nvPicPr>
          <p:cNvPr id="7" name="Image 0" descr="icons/hourgl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94481" y="1921383"/>
            <a:ext cx="226314" cy="22631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221992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2624328"/>
            <a:ext cx="29361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replicas on Minikube exhausted CPU — rollout timed out and rollback triggered.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" y="3520440"/>
            <a:ext cx="2936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replicas = 2, timeout = 300s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53458" y="1600200"/>
            <a:ext cx="3484778" cy="2331720"/>
          </a:xfrm>
          <a:prstGeom prst="roundRect">
            <a:avLst>
              <a:gd name="adj" fmla="val 3137"/>
            </a:avLst>
          </a:prstGeom>
          <a:solidFill>
            <a:srgbClr val="131B2E"/>
          </a:solidFill>
          <a:ln w="12700">
            <a:solidFill>
              <a:srgbClr val="2631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627778" y="1783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7152437" y="1828800"/>
            <a:ext cx="411480" cy="411480"/>
          </a:xfrm>
          <a:prstGeom prst="ellipse">
            <a:avLst/>
          </a:prstGeom>
          <a:solidFill>
            <a:srgbClr val="FB7185"/>
          </a:solidFill>
          <a:ln/>
        </p:spPr>
      </p:sp>
      <p:pic>
        <p:nvPicPr>
          <p:cNvPr id="14" name="Image 1" descr="icons/times-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5020" y="1921383"/>
            <a:ext cx="226314" cy="22631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27778" y="2221992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CrashLoop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627778" y="2624328"/>
            <a:ext cx="29361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process.exit(1) in server.js caused CrashLoopBackOff — rollback triggered immediately.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627778" y="3520440"/>
            <a:ext cx="2936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Reverted to previous build ✓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203997" y="1600200"/>
            <a:ext cx="3484778" cy="2331720"/>
          </a:xfrm>
          <a:prstGeom prst="roundRect">
            <a:avLst>
              <a:gd name="adj" fmla="val 3137"/>
            </a:avLst>
          </a:prstGeom>
          <a:solidFill>
            <a:srgbClr val="131B2E"/>
          </a:solidFill>
          <a:ln w="12700">
            <a:solidFill>
              <a:srgbClr val="2631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8478317" y="1783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3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Shape 16"/>
          <p:cNvSpPr/>
          <p:nvPr/>
        </p:nvSpPr>
        <p:spPr>
          <a:xfrm>
            <a:off x="11002975" y="1828800"/>
            <a:ext cx="411480" cy="411480"/>
          </a:xfrm>
          <a:prstGeom prst="ellipse">
            <a:avLst/>
          </a:prstGeom>
          <a:solidFill>
            <a:srgbClr val="FB7185"/>
          </a:solidFill>
          <a:ln/>
        </p:spPr>
      </p:sp>
      <p:pic>
        <p:nvPicPr>
          <p:cNvPr id="21" name="Image 2" descr="icons/w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5558" y="1921383"/>
            <a:ext cx="226314" cy="22631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478317" y="2221992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Port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8478317" y="2624328"/>
            <a:ext cx="29361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containerPort in deployment.yaml — pod never became ready, rollback triggered.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8478317" y="3520440"/>
            <a:ext cx="2936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reliable rollback test ✓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502920" y="4251960"/>
            <a:ext cx="11185855" cy="1965960"/>
          </a:xfrm>
          <a:prstGeom prst="roundRect">
            <a:avLst>
              <a:gd name="adj" fmla="val 3721"/>
            </a:avLst>
          </a:prstGeom>
          <a:solidFill>
            <a:srgbClr val="1B2540"/>
          </a:solidFill>
          <a:ln w="12700">
            <a:solidFill>
              <a:srgbClr val="26314A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822960" y="44165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PIPELINE FLOW WITH ROLLBACK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822960" y="47823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success: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2069562" y="4901184"/>
            <a:ext cx="1725107" cy="91440"/>
          </a:xfrm>
          <a:prstGeom prst="rightArrow">
            <a:avLst/>
          </a:prstGeom>
          <a:solidFill>
            <a:srgbClr val="26314A"/>
          </a:solidFill>
          <a:ln/>
        </p:spPr>
      </p:sp>
      <p:sp>
        <p:nvSpPr>
          <p:cNvPr id="29" name="Shape 24"/>
          <p:cNvSpPr/>
          <p:nvPr/>
        </p:nvSpPr>
        <p:spPr>
          <a:xfrm>
            <a:off x="1712946" y="4782312"/>
            <a:ext cx="329184" cy="329184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0" name="Text 25"/>
          <p:cNvSpPr/>
          <p:nvPr/>
        </p:nvSpPr>
        <p:spPr>
          <a:xfrm>
            <a:off x="1255746" y="5157216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4178717" y="4901184"/>
            <a:ext cx="1725107" cy="91440"/>
          </a:xfrm>
          <a:prstGeom prst="rightArrow">
            <a:avLst/>
          </a:prstGeom>
          <a:solidFill>
            <a:srgbClr val="26314A"/>
          </a:solidFill>
          <a:ln/>
        </p:spPr>
      </p:sp>
      <p:sp>
        <p:nvSpPr>
          <p:cNvPr id="32" name="Shape 27"/>
          <p:cNvSpPr/>
          <p:nvPr/>
        </p:nvSpPr>
        <p:spPr>
          <a:xfrm>
            <a:off x="3822101" y="4782312"/>
            <a:ext cx="329184" cy="329184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3" name="Text 28"/>
          <p:cNvSpPr/>
          <p:nvPr/>
        </p:nvSpPr>
        <p:spPr>
          <a:xfrm>
            <a:off x="3364901" y="5157216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6287872" y="4901184"/>
            <a:ext cx="1725107" cy="91440"/>
          </a:xfrm>
          <a:prstGeom prst="rightArrow">
            <a:avLst/>
          </a:prstGeom>
          <a:solidFill>
            <a:srgbClr val="26314A"/>
          </a:solidFill>
          <a:ln/>
        </p:spPr>
      </p:sp>
      <p:sp>
        <p:nvSpPr>
          <p:cNvPr id="35" name="Shape 30"/>
          <p:cNvSpPr/>
          <p:nvPr/>
        </p:nvSpPr>
        <p:spPr>
          <a:xfrm>
            <a:off x="5931256" y="4782312"/>
            <a:ext cx="329184" cy="329184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6" name="Text 31"/>
          <p:cNvSpPr/>
          <p:nvPr/>
        </p:nvSpPr>
        <p:spPr>
          <a:xfrm>
            <a:off x="5474056" y="5157216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8397027" y="4901184"/>
            <a:ext cx="1725107" cy="91440"/>
          </a:xfrm>
          <a:prstGeom prst="rightArrow">
            <a:avLst/>
          </a:prstGeom>
          <a:solidFill>
            <a:srgbClr val="26314A"/>
          </a:solidFill>
          <a:ln/>
        </p:spPr>
      </p:sp>
      <p:sp>
        <p:nvSpPr>
          <p:cNvPr id="38" name="Shape 33"/>
          <p:cNvSpPr/>
          <p:nvPr/>
        </p:nvSpPr>
        <p:spPr>
          <a:xfrm>
            <a:off x="8040411" y="4782312"/>
            <a:ext cx="329184" cy="329184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9" name="Text 34"/>
          <p:cNvSpPr/>
          <p:nvPr/>
        </p:nvSpPr>
        <p:spPr>
          <a:xfrm>
            <a:off x="7583211" y="5157216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900" dirty="0"/>
          </a:p>
        </p:txBody>
      </p:sp>
      <p:sp>
        <p:nvSpPr>
          <p:cNvPr id="40" name="Shape 35"/>
          <p:cNvSpPr/>
          <p:nvPr/>
        </p:nvSpPr>
        <p:spPr>
          <a:xfrm>
            <a:off x="10149566" y="4782312"/>
            <a:ext cx="329184" cy="329184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41" name="Text 36"/>
          <p:cNvSpPr/>
          <p:nvPr/>
        </p:nvSpPr>
        <p:spPr>
          <a:xfrm>
            <a:off x="9692366" y="5157216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900" dirty="0"/>
          </a:p>
        </p:txBody>
      </p:sp>
      <p:sp>
        <p:nvSpPr>
          <p:cNvPr id="42" name="Text 37"/>
          <p:cNvSpPr/>
          <p:nvPr/>
        </p:nvSpPr>
        <p:spPr>
          <a:xfrm>
            <a:off x="822960" y="5577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failure:</a:t>
            </a:r>
            <a:endParaRPr lang="en-US" sz="950" dirty="0"/>
          </a:p>
        </p:txBody>
      </p:sp>
      <p:sp>
        <p:nvSpPr>
          <p:cNvPr id="43" name="Shape 38"/>
          <p:cNvSpPr/>
          <p:nvPr/>
        </p:nvSpPr>
        <p:spPr>
          <a:xfrm>
            <a:off x="1893799" y="5696712"/>
            <a:ext cx="1373581" cy="91440"/>
          </a:xfrm>
          <a:prstGeom prst="rightArrow">
            <a:avLst/>
          </a:prstGeom>
          <a:solidFill>
            <a:srgbClr val="26314A"/>
          </a:solidFill>
          <a:ln/>
        </p:spPr>
      </p:sp>
      <p:sp>
        <p:nvSpPr>
          <p:cNvPr id="44" name="Shape 39"/>
          <p:cNvSpPr/>
          <p:nvPr/>
        </p:nvSpPr>
        <p:spPr>
          <a:xfrm>
            <a:off x="1537183" y="5577840"/>
            <a:ext cx="329184" cy="329184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45" name="Text 40"/>
          <p:cNvSpPr/>
          <p:nvPr/>
        </p:nvSpPr>
        <p:spPr>
          <a:xfrm>
            <a:off x="1079983" y="5952744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</a:t>
            </a:r>
            <a:endParaRPr lang="en-US" sz="900" dirty="0"/>
          </a:p>
        </p:txBody>
      </p:sp>
      <p:sp>
        <p:nvSpPr>
          <p:cNvPr id="46" name="Shape 41"/>
          <p:cNvSpPr/>
          <p:nvPr/>
        </p:nvSpPr>
        <p:spPr>
          <a:xfrm>
            <a:off x="3651428" y="5696712"/>
            <a:ext cx="1373581" cy="91440"/>
          </a:xfrm>
          <a:prstGeom prst="rightArrow">
            <a:avLst/>
          </a:prstGeom>
          <a:solidFill>
            <a:srgbClr val="26314A"/>
          </a:solidFill>
          <a:ln/>
        </p:spPr>
      </p:sp>
      <p:sp>
        <p:nvSpPr>
          <p:cNvPr id="47" name="Shape 42"/>
          <p:cNvSpPr/>
          <p:nvPr/>
        </p:nvSpPr>
        <p:spPr>
          <a:xfrm>
            <a:off x="3294812" y="5577840"/>
            <a:ext cx="329184" cy="329184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48" name="Text 43"/>
          <p:cNvSpPr/>
          <p:nvPr/>
        </p:nvSpPr>
        <p:spPr>
          <a:xfrm>
            <a:off x="2837612" y="5952744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900" dirty="0"/>
          </a:p>
        </p:txBody>
      </p:sp>
      <p:sp>
        <p:nvSpPr>
          <p:cNvPr id="49" name="Shape 44"/>
          <p:cNvSpPr/>
          <p:nvPr/>
        </p:nvSpPr>
        <p:spPr>
          <a:xfrm>
            <a:off x="5409057" y="5696712"/>
            <a:ext cx="1373581" cy="91440"/>
          </a:xfrm>
          <a:prstGeom prst="rightArrow">
            <a:avLst/>
          </a:prstGeom>
          <a:solidFill>
            <a:srgbClr val="26314A"/>
          </a:solidFill>
          <a:ln/>
        </p:spPr>
      </p:sp>
      <p:sp>
        <p:nvSpPr>
          <p:cNvPr id="50" name="Shape 45"/>
          <p:cNvSpPr/>
          <p:nvPr/>
        </p:nvSpPr>
        <p:spPr>
          <a:xfrm>
            <a:off x="5052441" y="5577840"/>
            <a:ext cx="329184" cy="329184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51" name="Text 46"/>
          <p:cNvSpPr/>
          <p:nvPr/>
        </p:nvSpPr>
        <p:spPr>
          <a:xfrm>
            <a:off x="4595241" y="5952744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900" dirty="0"/>
          </a:p>
        </p:txBody>
      </p:sp>
      <p:sp>
        <p:nvSpPr>
          <p:cNvPr id="52" name="Shape 47"/>
          <p:cNvSpPr/>
          <p:nvPr/>
        </p:nvSpPr>
        <p:spPr>
          <a:xfrm>
            <a:off x="7166686" y="5696712"/>
            <a:ext cx="1373581" cy="91440"/>
          </a:xfrm>
          <a:prstGeom prst="rightArrow">
            <a:avLst/>
          </a:prstGeom>
          <a:solidFill>
            <a:srgbClr val="26314A"/>
          </a:solidFill>
          <a:ln/>
        </p:spPr>
      </p:sp>
      <p:sp>
        <p:nvSpPr>
          <p:cNvPr id="53" name="Shape 48"/>
          <p:cNvSpPr/>
          <p:nvPr/>
        </p:nvSpPr>
        <p:spPr>
          <a:xfrm>
            <a:off x="6810070" y="5577840"/>
            <a:ext cx="329184" cy="329184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54" name="Text 49"/>
          <p:cNvSpPr/>
          <p:nvPr/>
        </p:nvSpPr>
        <p:spPr>
          <a:xfrm>
            <a:off x="6352870" y="5952744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FAIL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8924315" y="5696712"/>
            <a:ext cx="1373581" cy="91440"/>
          </a:xfrm>
          <a:prstGeom prst="rightArrow">
            <a:avLst/>
          </a:prstGeom>
          <a:solidFill>
            <a:srgbClr val="26314A"/>
          </a:solidFill>
          <a:ln/>
        </p:spPr>
      </p:sp>
      <p:sp>
        <p:nvSpPr>
          <p:cNvPr id="56" name="Shape 51"/>
          <p:cNvSpPr/>
          <p:nvPr/>
        </p:nvSpPr>
        <p:spPr>
          <a:xfrm>
            <a:off x="8567699" y="5577840"/>
            <a:ext cx="329184" cy="329184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57" name="Text 52"/>
          <p:cNvSpPr/>
          <p:nvPr/>
        </p:nvSpPr>
        <p:spPr>
          <a:xfrm>
            <a:off x="8110499" y="5952744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Rollback</a:t>
            </a:r>
            <a:endParaRPr lang="en-US" sz="900" dirty="0"/>
          </a:p>
        </p:txBody>
      </p:sp>
      <p:sp>
        <p:nvSpPr>
          <p:cNvPr id="58" name="Shape 53"/>
          <p:cNvSpPr/>
          <p:nvPr/>
        </p:nvSpPr>
        <p:spPr>
          <a:xfrm>
            <a:off x="10325329" y="5577840"/>
            <a:ext cx="329184" cy="329184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59" name="Text 54"/>
          <p:cNvSpPr/>
          <p:nvPr/>
        </p:nvSpPr>
        <p:spPr>
          <a:xfrm>
            <a:off x="9868129" y="5952744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</a:t>
            </a:r>
            <a:endParaRPr lang="en-US" sz="900" dirty="0"/>
          </a:p>
        </p:txBody>
      </p:sp>
      <p:sp>
        <p:nvSpPr>
          <p:cNvPr id="60" name="Text 55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TESTING &amp; VERIFICATION</a:t>
            </a:r>
            <a:endParaRPr lang="en-US" sz="900" dirty="0"/>
          </a:p>
        </p:txBody>
      </p:sp>
      <p:sp>
        <p:nvSpPr>
          <p:cNvPr id="61" name="Text 56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68096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demonstrates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12064" cy="512064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5" name="Image 0" descr="icons/kuberne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8134" y="1715414"/>
            <a:ext cx="281635" cy="2816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508760"/>
            <a:ext cx="104086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CI/CD pipeline integrating Docker and Kubernetes for fully automated application deployment.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2651760"/>
            <a:ext cx="512064" cy="512064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8" name="Image 1" descr="icons/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34" y="2766974"/>
            <a:ext cx="281635" cy="28163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560320"/>
            <a:ext cx="104086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downtime using rolling updates, with deployment performance improved through resource tuning.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02920" y="3703320"/>
            <a:ext cx="512064" cy="512064"/>
          </a:xfrm>
          <a:prstGeom prst="ellipse">
            <a:avLst/>
          </a:prstGeom>
          <a:solidFill>
            <a:srgbClr val="A78BFA"/>
          </a:solidFill>
          <a:ln/>
        </p:spPr>
      </p:sp>
      <p:pic>
        <p:nvPicPr>
          <p:cNvPr id="11" name="Image 2" descr="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34" y="3818534"/>
            <a:ext cx="281635" cy="28163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80160" y="3611880"/>
            <a:ext cx="104086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auto rollback on deployment failure, added and verified — not just designed on paper.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02920" y="4754880"/>
            <a:ext cx="512064" cy="512064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14" name="Image 3" descr="icons/clipboard-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34" y="4870094"/>
            <a:ext cx="281635" cy="28163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80160" y="4663440"/>
            <a:ext cx="104086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tested with CrashLoopBackOff simulation and wrong-port injection, confirming automatic recovery to the last stable build.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502920" y="5852160"/>
            <a:ext cx="11185855" cy="640080"/>
          </a:xfrm>
          <a:prstGeom prst="roundRect">
            <a:avLst>
              <a:gd name="adj" fmla="val 11429"/>
            </a:avLst>
          </a:prstGeom>
          <a:solidFill>
            <a:srgbClr val="EEF2F9"/>
          </a:solidFill>
          <a:ln/>
        </p:spPr>
      </p:sp>
      <p:sp>
        <p:nvSpPr>
          <p:cNvPr id="17" name="Text 11"/>
          <p:cNvSpPr/>
          <p:nvPr/>
        </p:nvSpPr>
        <p:spPr>
          <a:xfrm>
            <a:off x="777240" y="585216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Overall, the project demonstrates practical, working knowledge of DevOps practices, containerization, version control, Kubernetes orchestration, and fault-tolerant deployment in a real-world workflow.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11140135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286000"/>
            <a:ext cx="6400800" cy="6400800"/>
          </a:xfrm>
          <a:prstGeom prst="ellipse">
            <a:avLst/>
          </a:prstGeom>
          <a:solidFill>
            <a:srgbClr val="0EA5E9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560320" y="3657600"/>
            <a:ext cx="5486400" cy="5486400"/>
          </a:xfrm>
          <a:prstGeom prst="ellipse">
            <a:avLst/>
          </a:prstGeom>
          <a:solidFill>
            <a:srgbClr val="2DD4BF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237744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0" y="333756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for Node.js Application Deployment on Kubernetes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924148" y="4114800"/>
            <a:ext cx="457200" cy="457200"/>
          </a:xfrm>
          <a:prstGeom prst="ellipse">
            <a:avLst/>
          </a:prstGeom>
          <a:solidFill>
            <a:srgbClr val="1B2540"/>
          </a:solidFill>
          <a:ln/>
        </p:spPr>
      </p:sp>
      <p:pic>
        <p:nvPicPr>
          <p:cNvPr id="7" name="Image 0" descr="icons/dev-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33876" y="4224528"/>
            <a:ext cx="237744" cy="2377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701388" y="4114800"/>
            <a:ext cx="457200" cy="457200"/>
          </a:xfrm>
          <a:prstGeom prst="ellipse">
            <a:avLst/>
          </a:prstGeom>
          <a:solidFill>
            <a:srgbClr val="1B2540"/>
          </a:solidFill>
          <a:ln/>
        </p:spPr>
      </p:sp>
      <p:pic>
        <p:nvPicPr>
          <p:cNvPr id="9" name="Image 1" descr="icons/githu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1116" y="4224528"/>
            <a:ext cx="237744" cy="23774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78628" y="4114800"/>
            <a:ext cx="457200" cy="457200"/>
          </a:xfrm>
          <a:prstGeom prst="ellipse">
            <a:avLst/>
          </a:prstGeom>
          <a:solidFill>
            <a:srgbClr val="1B2540"/>
          </a:solidFill>
          <a:ln/>
        </p:spPr>
      </p:sp>
      <p:pic>
        <p:nvPicPr>
          <p:cNvPr id="11" name="Image 2" descr="icons/jenki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356" y="4224528"/>
            <a:ext cx="237744" cy="237744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255868" y="4114800"/>
            <a:ext cx="457200" cy="457200"/>
          </a:xfrm>
          <a:prstGeom prst="ellipse">
            <a:avLst/>
          </a:prstGeom>
          <a:solidFill>
            <a:srgbClr val="1B2540"/>
          </a:solidFill>
          <a:ln/>
        </p:spPr>
      </p:sp>
      <p:pic>
        <p:nvPicPr>
          <p:cNvPr id="13" name="Image 3" descr="icons/dock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5596" y="4224528"/>
            <a:ext cx="237744" cy="237744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7033108" y="4114800"/>
            <a:ext cx="457200" cy="457200"/>
          </a:xfrm>
          <a:prstGeom prst="ellipse">
            <a:avLst/>
          </a:prstGeom>
          <a:solidFill>
            <a:srgbClr val="1B2540"/>
          </a:solidFill>
          <a:ln/>
        </p:spPr>
      </p:sp>
      <p:pic>
        <p:nvPicPr>
          <p:cNvPr id="15" name="Image 4" descr="icons/kubernete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2836" y="4224528"/>
            <a:ext cx="237744" cy="237744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7810348" y="4114800"/>
            <a:ext cx="457200" cy="457200"/>
          </a:xfrm>
          <a:prstGeom prst="ellipse">
            <a:avLst/>
          </a:prstGeom>
          <a:solidFill>
            <a:srgbClr val="1B2540"/>
          </a:solidFill>
          <a:ln/>
        </p:spPr>
      </p:sp>
      <p:pic>
        <p:nvPicPr>
          <p:cNvPr id="17" name="Image 5" descr="icons/end-use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0076" y="4224528"/>
            <a:ext cx="237744" cy="237744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0" y="5029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Hrushikesh Ulawekar</a:t>
            </a:r>
            <a:endParaRPr lang="en-US" sz="1600" dirty="0"/>
          </a:p>
        </p:txBody>
      </p:sp>
      <p:sp>
        <p:nvSpPr>
          <p:cNvPr id="19" name="Text 11"/>
          <p:cNvSpPr/>
          <p:nvPr/>
        </p:nvSpPr>
        <p:spPr>
          <a:xfrm>
            <a:off x="0" y="541324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github.com/hrushikeshulawekar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CI/CD Pipeline for Node.js Application Deployment on Kubernetes</dc:title>
  <dc:subject>PptxGenJS Presentation</dc:subject>
  <dc:creator>Hrushikesh Ulawekar</dc:creator>
  <cp:lastModifiedBy>Hrushikesh Ulawekar</cp:lastModifiedBy>
  <cp:revision>1</cp:revision>
  <dcterms:created xsi:type="dcterms:W3CDTF">2026-06-25T09:54:21Z</dcterms:created>
  <dcterms:modified xsi:type="dcterms:W3CDTF">2026-06-25T09:54:21Z</dcterms:modified>
</cp:coreProperties>
</file>